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4" r:id="rId5"/>
  </p:sldIdLst>
  <p:sldSz cx="36576000" cy="32918400"/>
  <p:notesSz cx="6858000" cy="9144000"/>
  <p:defaultTextStyle>
    <a:defPPr>
      <a:defRPr lang="en-US"/>
    </a:defPPr>
    <a:lvl1pPr marL="0" algn="l" defTabSz="3335731" rtl="0" eaLnBrk="1" latinLnBrk="0" hangingPunct="1">
      <a:defRPr sz="6566" kern="1200">
        <a:solidFill>
          <a:schemeClr val="tx1"/>
        </a:solidFill>
        <a:latin typeface="+mn-lt"/>
        <a:ea typeface="+mn-ea"/>
        <a:cs typeface="+mn-cs"/>
      </a:defRPr>
    </a:lvl1pPr>
    <a:lvl2pPr marL="1667866" algn="l" defTabSz="3335731" rtl="0" eaLnBrk="1" latinLnBrk="0" hangingPunct="1">
      <a:defRPr sz="6566" kern="1200">
        <a:solidFill>
          <a:schemeClr val="tx1"/>
        </a:solidFill>
        <a:latin typeface="+mn-lt"/>
        <a:ea typeface="+mn-ea"/>
        <a:cs typeface="+mn-cs"/>
      </a:defRPr>
    </a:lvl2pPr>
    <a:lvl3pPr marL="3335731" algn="l" defTabSz="3335731" rtl="0" eaLnBrk="1" latinLnBrk="0" hangingPunct="1">
      <a:defRPr sz="6566" kern="1200">
        <a:solidFill>
          <a:schemeClr val="tx1"/>
        </a:solidFill>
        <a:latin typeface="+mn-lt"/>
        <a:ea typeface="+mn-ea"/>
        <a:cs typeface="+mn-cs"/>
      </a:defRPr>
    </a:lvl3pPr>
    <a:lvl4pPr marL="5003597" algn="l" defTabSz="3335731" rtl="0" eaLnBrk="1" latinLnBrk="0" hangingPunct="1">
      <a:defRPr sz="6566" kern="1200">
        <a:solidFill>
          <a:schemeClr val="tx1"/>
        </a:solidFill>
        <a:latin typeface="+mn-lt"/>
        <a:ea typeface="+mn-ea"/>
        <a:cs typeface="+mn-cs"/>
      </a:defRPr>
    </a:lvl4pPr>
    <a:lvl5pPr marL="6671462" algn="l" defTabSz="3335731" rtl="0" eaLnBrk="1" latinLnBrk="0" hangingPunct="1">
      <a:defRPr sz="6566" kern="1200">
        <a:solidFill>
          <a:schemeClr val="tx1"/>
        </a:solidFill>
        <a:latin typeface="+mn-lt"/>
        <a:ea typeface="+mn-ea"/>
        <a:cs typeface="+mn-cs"/>
      </a:defRPr>
    </a:lvl5pPr>
    <a:lvl6pPr marL="8339328" algn="l" defTabSz="3335731" rtl="0" eaLnBrk="1" latinLnBrk="0" hangingPunct="1">
      <a:defRPr sz="6566" kern="1200">
        <a:solidFill>
          <a:schemeClr val="tx1"/>
        </a:solidFill>
        <a:latin typeface="+mn-lt"/>
        <a:ea typeface="+mn-ea"/>
        <a:cs typeface="+mn-cs"/>
      </a:defRPr>
    </a:lvl6pPr>
    <a:lvl7pPr marL="10007194" algn="l" defTabSz="3335731" rtl="0" eaLnBrk="1" latinLnBrk="0" hangingPunct="1">
      <a:defRPr sz="6566" kern="1200">
        <a:solidFill>
          <a:schemeClr val="tx1"/>
        </a:solidFill>
        <a:latin typeface="+mn-lt"/>
        <a:ea typeface="+mn-ea"/>
        <a:cs typeface="+mn-cs"/>
      </a:defRPr>
    </a:lvl7pPr>
    <a:lvl8pPr marL="11675059" algn="l" defTabSz="3335731" rtl="0" eaLnBrk="1" latinLnBrk="0" hangingPunct="1">
      <a:defRPr sz="6566" kern="1200">
        <a:solidFill>
          <a:schemeClr val="tx1"/>
        </a:solidFill>
        <a:latin typeface="+mn-lt"/>
        <a:ea typeface="+mn-ea"/>
        <a:cs typeface="+mn-cs"/>
      </a:defRPr>
    </a:lvl8pPr>
    <a:lvl9pPr marL="13342925" algn="l" defTabSz="3335731" rtl="0" eaLnBrk="1" latinLnBrk="0" hangingPunct="1">
      <a:defRPr sz="656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74"/>
  </p:normalViewPr>
  <p:slideViewPr>
    <p:cSldViewPr snapToGrid="0" snapToObjects="1">
      <p:cViewPr>
        <p:scale>
          <a:sx n="68" d="100"/>
          <a:sy n="68" d="100"/>
        </p:scale>
        <p:origin x="-293" y="-3605"/>
      </p:cViewPr>
      <p:guideLst>
        <p:guide orient="horz" pos="10368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5387342"/>
            <a:ext cx="31089600" cy="11460480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7289782"/>
            <a:ext cx="27432000" cy="7947658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9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24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8206749"/>
            <a:ext cx="31546800" cy="13693138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2029429"/>
            <a:ext cx="31546800" cy="7200898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6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8763000"/>
            <a:ext cx="1554480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8763000"/>
            <a:ext cx="1554480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0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752607"/>
            <a:ext cx="3154680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8069582"/>
            <a:ext cx="15473360" cy="395477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2024360"/>
            <a:ext cx="15473360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8069582"/>
            <a:ext cx="15549564" cy="395477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2024360"/>
            <a:ext cx="15549564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2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8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1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194560"/>
            <a:ext cx="11796712" cy="768096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4739647"/>
            <a:ext cx="18516600" cy="23393400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9875520"/>
            <a:ext cx="11796712" cy="18295622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3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194560"/>
            <a:ext cx="11796712" cy="768096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4739647"/>
            <a:ext cx="18516600" cy="23393400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9875520"/>
            <a:ext cx="11796712" cy="18295622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6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1752600"/>
            <a:ext cx="788670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1752600"/>
            <a:ext cx="23202900" cy="2789682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10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752607"/>
            <a:ext cx="3154680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8763000"/>
            <a:ext cx="3154680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30510487"/>
            <a:ext cx="822960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92872-8902-EB46-B962-9D801E573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30510487"/>
            <a:ext cx="1234440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0510487"/>
            <a:ext cx="822960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CE940-E502-0D4E-9E7F-93B1604BD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3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B12595-8182-FA4B-8359-E7C985F3E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4572000"/>
          </a:xfrm>
          <a:prstGeom prst="rect">
            <a:avLst/>
          </a:prstGeom>
        </p:spPr>
      </p:pic>
      <p:pic>
        <p:nvPicPr>
          <p:cNvPr id="2" name="Picture 1" descr="UPDATEDInterlockingUH-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4565904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6E2EA086-91C5-BF7D-08EB-09E86A456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096"/>
            <a:ext cx="36474400" cy="4559300"/>
          </a:xfrm>
          <a:prstGeom prst="rect">
            <a:avLst/>
          </a:prstGeom>
        </p:spPr>
      </p:pic>
      <p:pic>
        <p:nvPicPr>
          <p:cNvPr id="10" name="Picture 9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2CB03072-82BF-E5DB-C229-2335C4185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796"/>
            <a:ext cx="36576000" cy="4559300"/>
          </a:xfrm>
          <a:prstGeom prst="rect">
            <a:avLst/>
          </a:prstGeom>
        </p:spPr>
      </p:pic>
      <p:pic>
        <p:nvPicPr>
          <p:cNvPr id="18" name="Picture 17" descr="Logo&#10;&#10;Description automatically generated with medium confidence">
            <a:extLst>
              <a:ext uri="{FF2B5EF4-FFF2-40B4-BE49-F238E27FC236}">
                <a16:creationId xmlns:a16="http://schemas.microsoft.com/office/drawing/2014/main" id="{BF6C8C02-B7C9-1F95-651C-1E84866A6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6096"/>
            <a:ext cx="36576000" cy="4672076"/>
          </a:xfrm>
          <a:prstGeom prst="rect">
            <a:avLst/>
          </a:prstGeom>
        </p:spPr>
      </p:pic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4D197AE7-E715-4301-82A5-ECF84E8632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604"/>
            <a:ext cx="36576000" cy="4559300"/>
          </a:xfrm>
          <a:prstGeom prst="rect">
            <a:avLst/>
          </a:prstGeom>
        </p:spPr>
      </p:pic>
      <p:pic>
        <p:nvPicPr>
          <p:cNvPr id="22" name="Picture 21" descr="Text&#10;&#10;Description automatically generated">
            <a:extLst>
              <a:ext uri="{FF2B5EF4-FFF2-40B4-BE49-F238E27FC236}">
                <a16:creationId xmlns:a16="http://schemas.microsoft.com/office/drawing/2014/main" id="{4F67F672-9079-4D67-447B-B615774B51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81788"/>
            <a:ext cx="36576000" cy="4672076"/>
          </a:xfrm>
          <a:prstGeom prst="rect">
            <a:avLst/>
          </a:prstGeom>
        </p:spPr>
      </p:pic>
      <p:pic>
        <p:nvPicPr>
          <p:cNvPr id="9" name="Picture 8" descr="Shape&#10;&#10;Description automatically generated">
            <a:extLst>
              <a:ext uri="{FF2B5EF4-FFF2-40B4-BE49-F238E27FC236}">
                <a16:creationId xmlns:a16="http://schemas.microsoft.com/office/drawing/2014/main" id="{2A8B5823-8C6D-5186-FC71-E052A5FAA8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350"/>
            <a:ext cx="36576000" cy="4559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EE9FAD-2E5B-464E-90BE-034523B05391}"/>
              </a:ext>
            </a:extLst>
          </p:cNvPr>
          <p:cNvSpPr txBox="1"/>
          <p:nvPr/>
        </p:nvSpPr>
        <p:spPr>
          <a:xfrm>
            <a:off x="378777" y="5964986"/>
            <a:ext cx="176309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clearly state the problem that you plan to solve and the challenges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include a brief impact statement of your research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Note: please feel free to adjust the space for each section.</a:t>
            </a:r>
            <a:r>
              <a:rPr lang="en-US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516D3-94C9-45C6-8A11-EA3A7FBCB6C5}"/>
              </a:ext>
            </a:extLst>
          </p:cNvPr>
          <p:cNvSpPr txBox="1"/>
          <p:nvPr/>
        </p:nvSpPr>
        <p:spPr>
          <a:xfrm>
            <a:off x="4691269" y="126883"/>
            <a:ext cx="314363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FFFF00"/>
                </a:solidFill>
              </a:rPr>
              <a:t>Project Title: </a:t>
            </a:r>
            <a:r>
              <a:rPr lang="en-US" sz="8000" dirty="0">
                <a:solidFill>
                  <a:schemeClr val="bg1"/>
                </a:solidFill>
              </a:rPr>
              <a:t> </a:t>
            </a:r>
          </a:p>
          <a:p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EDD626-1ACE-481B-A1C2-B30D9E599533}"/>
              </a:ext>
            </a:extLst>
          </p:cNvPr>
          <p:cNvSpPr txBox="1"/>
          <p:nvPr/>
        </p:nvSpPr>
        <p:spPr>
          <a:xfrm>
            <a:off x="4864652" y="2475521"/>
            <a:ext cx="314363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First Name Last Name, </a:t>
            </a:r>
            <a:r>
              <a:rPr lang="en-US" sz="7200" dirty="0">
                <a:solidFill>
                  <a:srgbClr val="FFFF00"/>
                </a:solidFill>
              </a:rPr>
              <a:t>Undergrad or Graduate Student</a:t>
            </a:r>
            <a:r>
              <a:rPr lang="en-US" sz="7200" dirty="0">
                <a:solidFill>
                  <a:schemeClr val="bg1"/>
                </a:solidFill>
              </a:rPr>
              <a:t> </a:t>
            </a:r>
          </a:p>
          <a:p>
            <a:r>
              <a:rPr lang="en-US" sz="6000" b="1" dirty="0">
                <a:solidFill>
                  <a:schemeClr val="bg1"/>
                </a:solidFill>
              </a:rPr>
              <a:t>Department of Mechanical Engineering, Cullen College of Engineering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48B3C3-AD04-4459-8C4E-BB4BD85ACC26}"/>
              </a:ext>
            </a:extLst>
          </p:cNvPr>
          <p:cNvSpPr txBox="1"/>
          <p:nvPr/>
        </p:nvSpPr>
        <p:spPr>
          <a:xfrm>
            <a:off x="364592" y="4914816"/>
            <a:ext cx="1763092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800" dirty="0">
                <a:highlight>
                  <a:srgbClr val="FFFF00"/>
                </a:highlight>
              </a:rPr>
              <a:t>Problem Statement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253091-1B42-458F-A9BC-0B90E2802DBA}"/>
              </a:ext>
            </a:extLst>
          </p:cNvPr>
          <p:cNvSpPr txBox="1"/>
          <p:nvPr/>
        </p:nvSpPr>
        <p:spPr>
          <a:xfrm>
            <a:off x="348262" y="12928935"/>
            <a:ext cx="176309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describe the experiment setup with photo(s)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describe the procedure of data collection. Please use figures/illustrations to assist.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briefly describe the data: how many cases? how the data are arranged and labeled? …</a:t>
            </a:r>
          </a:p>
          <a:p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DB01F4-06D3-403A-850C-FCC02C85E649}"/>
              </a:ext>
            </a:extLst>
          </p:cNvPr>
          <p:cNvSpPr txBox="1"/>
          <p:nvPr/>
        </p:nvSpPr>
        <p:spPr>
          <a:xfrm>
            <a:off x="313464" y="11855960"/>
            <a:ext cx="17630925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0" dirty="0">
                <a:highlight>
                  <a:srgbClr val="FFFF00"/>
                </a:highlight>
              </a:rPr>
              <a:t>Experimental Setup and Collection of 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3AA207-79A4-4B4B-98E7-424F034CA72A}"/>
              </a:ext>
            </a:extLst>
          </p:cNvPr>
          <p:cNvSpPr txBox="1"/>
          <p:nvPr/>
        </p:nvSpPr>
        <p:spPr>
          <a:xfrm>
            <a:off x="18508558" y="4977709"/>
            <a:ext cx="17619077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0" dirty="0">
                <a:highlight>
                  <a:srgbClr val="FFFF00"/>
                </a:highlight>
              </a:rPr>
              <a:t>Results, Analysis and Discussion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9AD4C4-3E6A-480E-8863-FFF6174A5F0B}"/>
              </a:ext>
            </a:extLst>
          </p:cNvPr>
          <p:cNvSpPr txBox="1"/>
          <p:nvPr/>
        </p:nvSpPr>
        <p:spPr>
          <a:xfrm>
            <a:off x="18566298" y="6995160"/>
            <a:ext cx="17376268" cy="11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3EDB78-0A50-4A45-BC3B-992F030F2D05}"/>
              </a:ext>
            </a:extLst>
          </p:cNvPr>
          <p:cNvSpPr txBox="1"/>
          <p:nvPr/>
        </p:nvSpPr>
        <p:spPr>
          <a:xfrm>
            <a:off x="18546126" y="5840685"/>
            <a:ext cx="175613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present the key results in the forms of figures, tables, confusion matrices.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offer import analysis of your results.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offer discussion of the results based on the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include units for figures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0066FF"/>
                </a:solidFill>
              </a:rPr>
              <a:t>Please highlight results of your own creation/innovation</a:t>
            </a:r>
            <a:endParaRPr lang="en-US" sz="3200" b="1" dirty="0">
              <a:solidFill>
                <a:srgbClr val="0066FF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DD9114-DE41-471D-8215-AAC2B4BF2DF3}"/>
              </a:ext>
            </a:extLst>
          </p:cNvPr>
          <p:cNvSpPr txBox="1"/>
          <p:nvPr/>
        </p:nvSpPr>
        <p:spPr>
          <a:xfrm>
            <a:off x="18476538" y="21402746"/>
            <a:ext cx="17688496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0" dirty="0">
                <a:highlight>
                  <a:srgbClr val="FFFF00"/>
                </a:highlight>
              </a:rPr>
              <a:t>Conclusion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0D6209-E30F-45B1-825D-DB9F7A80976F}"/>
              </a:ext>
            </a:extLst>
          </p:cNvPr>
          <p:cNvSpPr txBox="1"/>
          <p:nvPr/>
        </p:nvSpPr>
        <p:spPr>
          <a:xfrm>
            <a:off x="18496709" y="22187924"/>
            <a:ext cx="1766572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offer the major conclusions of your project.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0066FF"/>
                </a:solidFill>
              </a:rPr>
              <a:t>Please summarize your innovation/creations</a:t>
            </a:r>
            <a:endParaRPr lang="en-US" sz="3200" b="1" dirty="0">
              <a:solidFill>
                <a:srgbClr val="0066F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briefly outlook the future work to improve your results.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7399EC-437D-4653-B959-77FC4F4801BE}"/>
              </a:ext>
            </a:extLst>
          </p:cNvPr>
          <p:cNvSpPr txBox="1"/>
          <p:nvPr/>
        </p:nvSpPr>
        <p:spPr>
          <a:xfrm>
            <a:off x="18496709" y="27056384"/>
            <a:ext cx="17630926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0" dirty="0">
                <a:highlight>
                  <a:srgbClr val="FFFF00"/>
                </a:highlight>
              </a:rPr>
              <a:t>Acknowledgements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5F4710-1825-46A0-BB3D-5ADA2C2E4B7A}"/>
              </a:ext>
            </a:extLst>
          </p:cNvPr>
          <p:cNvSpPr txBox="1"/>
          <p:nvPr/>
        </p:nvSpPr>
        <p:spPr>
          <a:xfrm>
            <a:off x="18508558" y="27967082"/>
            <a:ext cx="174340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financial support from </a:t>
            </a:r>
            <a:r>
              <a:rPr lang="en-US" sz="2800" dirty="0">
                <a:solidFill>
                  <a:srgbClr val="0066FF"/>
                </a:solidFill>
              </a:rPr>
              <a:t>Midstream Integrity Services (MIS)</a:t>
            </a:r>
            <a:r>
              <a:rPr lang="en-US" sz="2800" dirty="0"/>
              <a:t> and technical support from </a:t>
            </a:r>
            <a:r>
              <a:rPr lang="en-US" sz="2800" dirty="0">
                <a:solidFill>
                  <a:srgbClr val="0066FF"/>
                </a:solidFill>
              </a:rPr>
              <a:t>Smart Materials &amp; Structures Lab (SMSL)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0066FF"/>
                </a:solidFill>
              </a:rPr>
              <a:t>Artificial Intelligence Lab for Monitoring &amp; Inspection (AILMI)</a:t>
            </a:r>
            <a:r>
              <a:rPr lang="en-US" sz="2800" dirty="0"/>
              <a:t> at UH.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6C059E-A6BE-490E-BE41-DFAAFFC3D8E5}"/>
              </a:ext>
            </a:extLst>
          </p:cNvPr>
          <p:cNvSpPr txBox="1"/>
          <p:nvPr/>
        </p:nvSpPr>
        <p:spPr>
          <a:xfrm>
            <a:off x="18459139" y="29266572"/>
            <a:ext cx="17630926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0" dirty="0">
                <a:highlight>
                  <a:srgbClr val="FFFF00"/>
                </a:highlight>
              </a:rPr>
              <a:t>References (brief)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AF12BE-E9C4-41C4-B186-1F8C657B7767}"/>
              </a:ext>
            </a:extLst>
          </p:cNvPr>
          <p:cNvSpPr txBox="1"/>
          <p:nvPr/>
        </p:nvSpPr>
        <p:spPr>
          <a:xfrm>
            <a:off x="18459138" y="30256970"/>
            <a:ext cx="17160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1.</a:t>
            </a:r>
          </a:p>
          <a:p>
            <a:r>
              <a:rPr lang="en-US" sz="1800" dirty="0">
                <a:latin typeface="Calibri" panose="020F0502020204030204" pitchFamily="34" charset="0"/>
                <a:ea typeface="DengXian" panose="02010600030101010101" pitchFamily="2" charset="-122"/>
              </a:rPr>
              <a:t>2. 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3.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4.  </a:t>
            </a:r>
          </a:p>
          <a:p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5A5915-70FB-4960-A195-60016AB84D99}"/>
              </a:ext>
            </a:extLst>
          </p:cNvPr>
          <p:cNvSpPr/>
          <p:nvPr/>
        </p:nvSpPr>
        <p:spPr>
          <a:xfrm>
            <a:off x="350408" y="4894317"/>
            <a:ext cx="17659295" cy="320358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927996-FDBF-4EF8-BD38-00B70675DEF4}"/>
              </a:ext>
            </a:extLst>
          </p:cNvPr>
          <p:cNvSpPr/>
          <p:nvPr/>
        </p:nvSpPr>
        <p:spPr>
          <a:xfrm>
            <a:off x="313464" y="11855960"/>
            <a:ext cx="17630925" cy="95467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840EB9E-D9C4-440A-A47B-7887C4179708}"/>
              </a:ext>
            </a:extLst>
          </p:cNvPr>
          <p:cNvSpPr/>
          <p:nvPr/>
        </p:nvSpPr>
        <p:spPr>
          <a:xfrm>
            <a:off x="18479312" y="27049081"/>
            <a:ext cx="17648323" cy="18721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C0F25C9-A406-49C2-BA29-4B05D92C217F}"/>
              </a:ext>
            </a:extLst>
          </p:cNvPr>
          <p:cNvSpPr/>
          <p:nvPr/>
        </p:nvSpPr>
        <p:spPr>
          <a:xfrm>
            <a:off x="18441740" y="29254006"/>
            <a:ext cx="17665723" cy="34036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C9C4E1-4A3B-4F74-AAAE-1DB452244ED3}"/>
              </a:ext>
            </a:extLst>
          </p:cNvPr>
          <p:cNvSpPr/>
          <p:nvPr/>
        </p:nvSpPr>
        <p:spPr>
          <a:xfrm>
            <a:off x="18479313" y="21396498"/>
            <a:ext cx="17665718" cy="53293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1F635C-E4C9-4CE8-9C70-F06E4FB88287}"/>
              </a:ext>
            </a:extLst>
          </p:cNvPr>
          <p:cNvSpPr/>
          <p:nvPr/>
        </p:nvSpPr>
        <p:spPr>
          <a:xfrm>
            <a:off x="18496709" y="4970010"/>
            <a:ext cx="17630926" cy="1613416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67B05-0937-CD22-590E-4C1C9B340485}"/>
              </a:ext>
            </a:extLst>
          </p:cNvPr>
          <p:cNvSpPr txBox="1"/>
          <p:nvPr/>
        </p:nvSpPr>
        <p:spPr>
          <a:xfrm>
            <a:off x="321050" y="8430900"/>
            <a:ext cx="1763092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800" dirty="0">
                <a:highlight>
                  <a:srgbClr val="FFFF00"/>
                </a:highlight>
              </a:rPr>
              <a:t>Brief Literature Review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BD53CD-A47A-2F4F-58E0-CD87CDCBBF0C}"/>
              </a:ext>
            </a:extLst>
          </p:cNvPr>
          <p:cNvSpPr/>
          <p:nvPr/>
        </p:nvSpPr>
        <p:spPr>
          <a:xfrm>
            <a:off x="306866" y="8410401"/>
            <a:ext cx="17659295" cy="320358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9F45E3-CD7C-B8EA-1EF9-B28DF7B2ECC3}"/>
              </a:ext>
            </a:extLst>
          </p:cNvPr>
          <p:cNvSpPr txBox="1"/>
          <p:nvPr/>
        </p:nvSpPr>
        <p:spPr>
          <a:xfrm>
            <a:off x="272063" y="23046629"/>
            <a:ext cx="176309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present the signal processing method(s).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include the comparison of the data of different labels in different domains.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introduce your classification methods </a:t>
            </a:r>
            <a:r>
              <a:rPr lang="en-US" sz="2800" dirty="0"/>
              <a:t>(only report the top 1-2 methods due to space limitations)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introduce your clustering methods if you have performed this task.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include an illustrative flow chart to outline your research method(s)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b="1" dirty="0"/>
              <a:t>Please clearly  highlight what are </a:t>
            </a:r>
            <a:r>
              <a:rPr lang="en-US" sz="4000" b="1" dirty="0">
                <a:solidFill>
                  <a:srgbClr val="0066FF"/>
                </a:solidFill>
              </a:rPr>
              <a:t>new (your creations/innovations, beyond the course contents</a:t>
            </a:r>
            <a:r>
              <a:rPr lang="en-US" sz="3200" b="1" dirty="0">
                <a:solidFill>
                  <a:srgbClr val="0066FF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5F0D7-A69B-D7C8-AF7D-D185EB6BC52A}"/>
              </a:ext>
            </a:extLst>
          </p:cNvPr>
          <p:cNvSpPr txBox="1"/>
          <p:nvPr/>
        </p:nvSpPr>
        <p:spPr>
          <a:xfrm>
            <a:off x="237265" y="21973654"/>
            <a:ext cx="17630925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4800" dirty="0">
                <a:highlight>
                  <a:srgbClr val="FFFF00"/>
                </a:highlight>
              </a:rPr>
              <a:t>Method(s)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0CC532-DF36-AB39-6823-348F9E6F293E}"/>
              </a:ext>
            </a:extLst>
          </p:cNvPr>
          <p:cNvSpPr/>
          <p:nvPr/>
        </p:nvSpPr>
        <p:spPr>
          <a:xfrm>
            <a:off x="237265" y="21644725"/>
            <a:ext cx="17630925" cy="110416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7E2CA7-1E59-B4EB-478A-5CD51DD696C5}"/>
              </a:ext>
            </a:extLst>
          </p:cNvPr>
          <p:cNvSpPr txBox="1"/>
          <p:nvPr/>
        </p:nvSpPr>
        <p:spPr>
          <a:xfrm>
            <a:off x="412456" y="9455083"/>
            <a:ext cx="175319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Please include a brief literature review of the related stat- of-the-art in published papers and patents (applications) </a:t>
            </a:r>
          </a:p>
        </p:txBody>
      </p:sp>
    </p:spTree>
    <p:extLst>
      <p:ext uri="{BB962C8B-B14F-4D97-AF65-F5344CB8AC3E}">
        <p14:creationId xmlns:p14="http://schemas.microsoft.com/office/powerpoint/2010/main" val="2774442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2DBB676FD14E4992CDFD1726E5DC69" ma:contentTypeVersion="19" ma:contentTypeDescription="Create a new document." ma:contentTypeScope="" ma:versionID="61fc268ad2ced56506c4304d1f3b596a">
  <xsd:schema xmlns:xsd="http://www.w3.org/2001/XMLSchema" xmlns:xs="http://www.w3.org/2001/XMLSchema" xmlns:p="http://schemas.microsoft.com/office/2006/metadata/properties" xmlns:ns2="4475dbe8-f711-4040-92c2-b06f27e87766" xmlns:ns3="acfa7672-0cb9-4340-bc0a-028c69d9c815" targetNamespace="http://schemas.microsoft.com/office/2006/metadata/properties" ma:root="true" ma:fieldsID="3e05ceedd63f56408a4ec1d5ac7b975c" ns2:_="" ns3:_="">
    <xsd:import namespace="4475dbe8-f711-4040-92c2-b06f27e87766"/>
    <xsd:import namespace="acfa7672-0cb9-4340-bc0a-028c69d9c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Academic_x0020_Yea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5dbe8-f711-4040-92c2-b06f27e877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Academic_x0020_Year" ma:index="16" nillable="true" ma:displayName="Academic Year" ma:indexed="true" ma:internalName="Academic_x0020_Year">
      <xsd:simpleType>
        <xsd:restriction base="dms:Choice">
          <xsd:enumeration value="2016-2017"/>
          <xsd:enumeration value="2017-2018"/>
          <xsd:enumeration value="2018-2019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d3ec5fc-e53c-44b8-a5cd-ce895a24db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a7672-0cb9-4340-bc0a-028c69d9c81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d027dff-16c6-41db-ba79-4eb89c547428}" ma:internalName="TaxCatchAll" ma:showField="CatchAllData" ma:web="acfa7672-0cb9-4340-bc0a-028c69d9c8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cfa7672-0cb9-4340-bc0a-028c69d9c815" xsi:nil="true"/>
    <lcf76f155ced4ddcb4097134ff3c332f xmlns="4475dbe8-f711-4040-92c2-b06f27e87766">
      <Terms xmlns="http://schemas.microsoft.com/office/infopath/2007/PartnerControls"/>
    </lcf76f155ced4ddcb4097134ff3c332f>
    <Academic_x0020_Year xmlns="4475dbe8-f711-4040-92c2-b06f27e8776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BD1B00-7054-4E72-8C5D-E07A9E3C28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75dbe8-f711-4040-92c2-b06f27e87766"/>
    <ds:schemaRef ds:uri="acfa7672-0cb9-4340-bc0a-028c69d9c8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9F96EA-0874-45E7-AC6F-8546E1DF4626}">
  <ds:schemaRefs>
    <ds:schemaRef ds:uri="http://schemas.microsoft.com/office/2006/metadata/properties"/>
    <ds:schemaRef ds:uri="http://schemas.microsoft.com/office/infopath/2007/PartnerControls"/>
    <ds:schemaRef ds:uri="2653192c-782d-40ad-a290-cf1608df6ffd"/>
    <ds:schemaRef ds:uri="acfa7672-0cb9-4340-bc0a-028c69d9c815"/>
    <ds:schemaRef ds:uri="4475dbe8-f711-4040-92c2-b06f27e87766"/>
  </ds:schemaRefs>
</ds:datastoreItem>
</file>

<file path=customXml/itemProps3.xml><?xml version="1.0" encoding="utf-8"?>
<ds:datastoreItem xmlns:ds="http://schemas.openxmlformats.org/officeDocument/2006/customXml" ds:itemID="{3CC4F200-87BF-4126-AA4A-6A94BD69FE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4390</TotalTime>
  <Words>348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Hayes, Martha S</dc:creator>
  <cp:lastModifiedBy>Song, Gangbing</cp:lastModifiedBy>
  <cp:revision>72</cp:revision>
  <dcterms:created xsi:type="dcterms:W3CDTF">2019-11-04T16:35:15Z</dcterms:created>
  <dcterms:modified xsi:type="dcterms:W3CDTF">2026-04-24T04:10:55Z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0x010100AD2DBB676FD14E4992CDFD1726E5DC69</vt:lpwstr>
  </property>
</Properties>
</file>