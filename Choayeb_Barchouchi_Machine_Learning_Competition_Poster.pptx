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4" r:id="rId5"/>
  </p:sldIdLst>
  <p:sldSz cx="36576000" cy="32918400"/>
  <p:notesSz cx="6858000" cy="9144000"/>
  <p:defaultTextStyle>
    <a:defPPr>
      <a:defRPr lang="en-US"/>
    </a:defPPr>
    <a:lvl1pPr marL="0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1pPr>
    <a:lvl2pPr marL="1667709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2pPr>
    <a:lvl3pPr marL="3335417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3pPr>
    <a:lvl4pPr marL="5003126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4pPr>
    <a:lvl5pPr marL="6670834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5pPr>
    <a:lvl6pPr marL="8338543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6pPr>
    <a:lvl7pPr marL="10006251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7pPr>
    <a:lvl8pPr marL="11673960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8pPr>
    <a:lvl9pPr marL="13341668" algn="l" defTabSz="3335417" rtl="0" eaLnBrk="1" latinLnBrk="0" hangingPunct="1">
      <a:defRPr sz="65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9" userDrawn="1">
          <p15:clr>
            <a:srgbClr val="A4A3A4"/>
          </p15:clr>
        </p15:guide>
        <p15:guide id="2" pos="11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>
        <p:scale>
          <a:sx n="100" d="100"/>
          <a:sy n="100" d="100"/>
        </p:scale>
        <p:origin x="-10397" y="-4939"/>
      </p:cViewPr>
      <p:guideLst>
        <p:guide orient="horz" pos="10369"/>
        <p:guide pos="115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1" y="5387344"/>
            <a:ext cx="31089601" cy="11460479"/>
          </a:xfrm>
        </p:spPr>
        <p:txBody>
          <a:bodyPr anchor="b"/>
          <a:lstStyle>
            <a:lvl1pPr algn="ctr">
              <a:defRPr sz="24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2" y="17289783"/>
            <a:ext cx="27431999" cy="7947658"/>
          </a:xfrm>
        </p:spPr>
        <p:txBody>
          <a:bodyPr/>
          <a:lstStyle>
            <a:lvl1pPr marL="0" indent="0" algn="ctr">
              <a:buNone/>
              <a:defRPr sz="9601"/>
            </a:lvl1pPr>
            <a:lvl2pPr marL="1829029" indent="0" algn="ctr">
              <a:buNone/>
              <a:defRPr sz="8001"/>
            </a:lvl2pPr>
            <a:lvl3pPr marL="3658057" indent="0" algn="ctr">
              <a:buNone/>
              <a:defRPr sz="7201"/>
            </a:lvl3pPr>
            <a:lvl4pPr marL="5487086" indent="0" algn="ctr">
              <a:buNone/>
              <a:defRPr sz="6401"/>
            </a:lvl4pPr>
            <a:lvl5pPr marL="7316114" indent="0" algn="ctr">
              <a:buNone/>
              <a:defRPr sz="6401"/>
            </a:lvl5pPr>
            <a:lvl6pPr marL="9145143" indent="0" algn="ctr">
              <a:buNone/>
              <a:defRPr sz="6401"/>
            </a:lvl6pPr>
            <a:lvl7pPr marL="10974172" indent="0" algn="ctr">
              <a:buNone/>
              <a:defRPr sz="6401"/>
            </a:lvl7pPr>
            <a:lvl8pPr marL="12803200" indent="0" algn="ctr">
              <a:buNone/>
              <a:defRPr sz="6401"/>
            </a:lvl8pPr>
            <a:lvl9pPr marL="14632229" indent="0" algn="ctr">
              <a:buNone/>
              <a:defRPr sz="64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9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2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8206749"/>
            <a:ext cx="31546800" cy="13693139"/>
          </a:xfrm>
        </p:spPr>
        <p:txBody>
          <a:bodyPr anchor="b"/>
          <a:lstStyle>
            <a:lvl1pPr>
              <a:defRPr sz="24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2029428"/>
            <a:ext cx="31546800" cy="7200899"/>
          </a:xfrm>
        </p:spPr>
        <p:txBody>
          <a:bodyPr/>
          <a:lstStyle>
            <a:lvl1pPr marL="0" indent="0">
              <a:buNone/>
              <a:defRPr sz="9601">
                <a:solidFill>
                  <a:schemeClr val="tx1"/>
                </a:solidFill>
              </a:defRPr>
            </a:lvl1pPr>
            <a:lvl2pPr marL="1829029" indent="0">
              <a:buNone/>
              <a:defRPr sz="8001">
                <a:solidFill>
                  <a:schemeClr val="tx1">
                    <a:tint val="75000"/>
                  </a:schemeClr>
                </a:solidFill>
              </a:defRPr>
            </a:lvl2pPr>
            <a:lvl3pPr marL="3658057" indent="0">
              <a:buNone/>
              <a:defRPr sz="7201">
                <a:solidFill>
                  <a:schemeClr val="tx1">
                    <a:tint val="75000"/>
                  </a:schemeClr>
                </a:solidFill>
              </a:defRPr>
            </a:lvl3pPr>
            <a:lvl4pPr marL="5487086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4pPr>
            <a:lvl5pPr marL="7316114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5pPr>
            <a:lvl6pPr marL="9145143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6pPr>
            <a:lvl7pPr marL="10974172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7pPr>
            <a:lvl8pPr marL="12803200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8pPr>
            <a:lvl9pPr marL="14632229" indent="0">
              <a:buNone/>
              <a:defRPr sz="6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6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599" y="8763001"/>
            <a:ext cx="15544800" cy="20886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1" y="8763001"/>
            <a:ext cx="15544800" cy="20886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752608"/>
            <a:ext cx="3154680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9" y="8069583"/>
            <a:ext cx="15473360" cy="3954779"/>
          </a:xfrm>
        </p:spPr>
        <p:txBody>
          <a:bodyPr anchor="b"/>
          <a:lstStyle>
            <a:lvl1pPr marL="0" indent="0">
              <a:buNone/>
              <a:defRPr sz="9601" b="1"/>
            </a:lvl1pPr>
            <a:lvl2pPr marL="1829029" indent="0">
              <a:buNone/>
              <a:defRPr sz="8001" b="1"/>
            </a:lvl2pPr>
            <a:lvl3pPr marL="3658057" indent="0">
              <a:buNone/>
              <a:defRPr sz="7201" b="1"/>
            </a:lvl3pPr>
            <a:lvl4pPr marL="5487086" indent="0">
              <a:buNone/>
              <a:defRPr sz="6401" b="1"/>
            </a:lvl4pPr>
            <a:lvl5pPr marL="7316114" indent="0">
              <a:buNone/>
              <a:defRPr sz="6401" b="1"/>
            </a:lvl5pPr>
            <a:lvl6pPr marL="9145143" indent="0">
              <a:buNone/>
              <a:defRPr sz="6401" b="1"/>
            </a:lvl6pPr>
            <a:lvl7pPr marL="10974172" indent="0">
              <a:buNone/>
              <a:defRPr sz="6401" b="1"/>
            </a:lvl7pPr>
            <a:lvl8pPr marL="12803200" indent="0">
              <a:buNone/>
              <a:defRPr sz="6401" b="1"/>
            </a:lvl8pPr>
            <a:lvl9pPr marL="14632229" indent="0">
              <a:buNone/>
              <a:defRPr sz="640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9" y="12024360"/>
            <a:ext cx="15473360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3" y="8069583"/>
            <a:ext cx="15549563" cy="3954779"/>
          </a:xfrm>
        </p:spPr>
        <p:txBody>
          <a:bodyPr anchor="b"/>
          <a:lstStyle>
            <a:lvl1pPr marL="0" indent="0">
              <a:buNone/>
              <a:defRPr sz="9601" b="1"/>
            </a:lvl1pPr>
            <a:lvl2pPr marL="1829029" indent="0">
              <a:buNone/>
              <a:defRPr sz="8001" b="1"/>
            </a:lvl2pPr>
            <a:lvl3pPr marL="3658057" indent="0">
              <a:buNone/>
              <a:defRPr sz="7201" b="1"/>
            </a:lvl3pPr>
            <a:lvl4pPr marL="5487086" indent="0">
              <a:buNone/>
              <a:defRPr sz="6401" b="1"/>
            </a:lvl4pPr>
            <a:lvl5pPr marL="7316114" indent="0">
              <a:buNone/>
              <a:defRPr sz="6401" b="1"/>
            </a:lvl5pPr>
            <a:lvl6pPr marL="9145143" indent="0">
              <a:buNone/>
              <a:defRPr sz="6401" b="1"/>
            </a:lvl6pPr>
            <a:lvl7pPr marL="10974172" indent="0">
              <a:buNone/>
              <a:defRPr sz="6401" b="1"/>
            </a:lvl7pPr>
            <a:lvl8pPr marL="12803200" indent="0">
              <a:buNone/>
              <a:defRPr sz="6401" b="1"/>
            </a:lvl8pPr>
            <a:lvl9pPr marL="14632229" indent="0">
              <a:buNone/>
              <a:defRPr sz="640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3" y="12024360"/>
            <a:ext cx="15549563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2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1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94559"/>
            <a:ext cx="11796711" cy="7680961"/>
          </a:xfrm>
        </p:spPr>
        <p:txBody>
          <a:bodyPr anchor="b"/>
          <a:lstStyle>
            <a:lvl1pPr>
              <a:defRPr sz="128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3" y="4739648"/>
            <a:ext cx="18516601" cy="23393401"/>
          </a:xfrm>
        </p:spPr>
        <p:txBody>
          <a:bodyPr/>
          <a:lstStyle>
            <a:lvl1pPr>
              <a:defRPr sz="12802"/>
            </a:lvl1pPr>
            <a:lvl2pPr>
              <a:defRPr sz="11201"/>
            </a:lvl2pPr>
            <a:lvl3pPr>
              <a:defRPr sz="9601"/>
            </a:lvl3pPr>
            <a:lvl4pPr>
              <a:defRPr sz="8001"/>
            </a:lvl4pPr>
            <a:lvl5pPr>
              <a:defRPr sz="8001"/>
            </a:lvl5pPr>
            <a:lvl6pPr>
              <a:defRPr sz="8001"/>
            </a:lvl6pPr>
            <a:lvl7pPr>
              <a:defRPr sz="8001"/>
            </a:lvl7pPr>
            <a:lvl8pPr>
              <a:defRPr sz="8001"/>
            </a:lvl8pPr>
            <a:lvl9pPr>
              <a:defRPr sz="800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875521"/>
            <a:ext cx="11796711" cy="18295623"/>
          </a:xfrm>
        </p:spPr>
        <p:txBody>
          <a:bodyPr/>
          <a:lstStyle>
            <a:lvl1pPr marL="0" indent="0">
              <a:buNone/>
              <a:defRPr sz="6401"/>
            </a:lvl1pPr>
            <a:lvl2pPr marL="1829029" indent="0">
              <a:buNone/>
              <a:defRPr sz="5601"/>
            </a:lvl2pPr>
            <a:lvl3pPr marL="3658057" indent="0">
              <a:buNone/>
              <a:defRPr sz="4801"/>
            </a:lvl3pPr>
            <a:lvl4pPr marL="5487086" indent="0">
              <a:buNone/>
              <a:defRPr sz="4001"/>
            </a:lvl4pPr>
            <a:lvl5pPr marL="7316114" indent="0">
              <a:buNone/>
              <a:defRPr sz="4001"/>
            </a:lvl5pPr>
            <a:lvl6pPr marL="9145143" indent="0">
              <a:buNone/>
              <a:defRPr sz="4001"/>
            </a:lvl6pPr>
            <a:lvl7pPr marL="10974172" indent="0">
              <a:buNone/>
              <a:defRPr sz="4001"/>
            </a:lvl7pPr>
            <a:lvl8pPr marL="12803200" indent="0">
              <a:buNone/>
              <a:defRPr sz="4001"/>
            </a:lvl8pPr>
            <a:lvl9pPr marL="14632229" indent="0">
              <a:buNone/>
              <a:defRPr sz="400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94559"/>
            <a:ext cx="11796711" cy="7680961"/>
          </a:xfrm>
        </p:spPr>
        <p:txBody>
          <a:bodyPr anchor="b"/>
          <a:lstStyle>
            <a:lvl1pPr>
              <a:defRPr sz="128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3" y="4739648"/>
            <a:ext cx="18516601" cy="23393401"/>
          </a:xfrm>
        </p:spPr>
        <p:txBody>
          <a:bodyPr anchor="t"/>
          <a:lstStyle>
            <a:lvl1pPr marL="0" indent="0">
              <a:buNone/>
              <a:defRPr sz="12802"/>
            </a:lvl1pPr>
            <a:lvl2pPr marL="1829029" indent="0">
              <a:buNone/>
              <a:defRPr sz="11201"/>
            </a:lvl2pPr>
            <a:lvl3pPr marL="3658057" indent="0">
              <a:buNone/>
              <a:defRPr sz="9601"/>
            </a:lvl3pPr>
            <a:lvl4pPr marL="5487086" indent="0">
              <a:buNone/>
              <a:defRPr sz="8001"/>
            </a:lvl4pPr>
            <a:lvl5pPr marL="7316114" indent="0">
              <a:buNone/>
              <a:defRPr sz="8001"/>
            </a:lvl5pPr>
            <a:lvl6pPr marL="9145143" indent="0">
              <a:buNone/>
              <a:defRPr sz="8001"/>
            </a:lvl6pPr>
            <a:lvl7pPr marL="10974172" indent="0">
              <a:buNone/>
              <a:defRPr sz="8001"/>
            </a:lvl7pPr>
            <a:lvl8pPr marL="12803200" indent="0">
              <a:buNone/>
              <a:defRPr sz="8001"/>
            </a:lvl8pPr>
            <a:lvl9pPr marL="14632229" indent="0">
              <a:buNone/>
              <a:defRPr sz="800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875521"/>
            <a:ext cx="11796711" cy="18295623"/>
          </a:xfrm>
        </p:spPr>
        <p:txBody>
          <a:bodyPr/>
          <a:lstStyle>
            <a:lvl1pPr marL="0" indent="0">
              <a:buNone/>
              <a:defRPr sz="6401"/>
            </a:lvl1pPr>
            <a:lvl2pPr marL="1829029" indent="0">
              <a:buNone/>
              <a:defRPr sz="5601"/>
            </a:lvl2pPr>
            <a:lvl3pPr marL="3658057" indent="0">
              <a:buNone/>
              <a:defRPr sz="4801"/>
            </a:lvl3pPr>
            <a:lvl4pPr marL="5487086" indent="0">
              <a:buNone/>
              <a:defRPr sz="4001"/>
            </a:lvl4pPr>
            <a:lvl5pPr marL="7316114" indent="0">
              <a:buNone/>
              <a:defRPr sz="4001"/>
            </a:lvl5pPr>
            <a:lvl6pPr marL="9145143" indent="0">
              <a:buNone/>
              <a:defRPr sz="4001"/>
            </a:lvl6pPr>
            <a:lvl7pPr marL="10974172" indent="0">
              <a:buNone/>
              <a:defRPr sz="4001"/>
            </a:lvl7pPr>
            <a:lvl8pPr marL="12803200" indent="0">
              <a:buNone/>
              <a:defRPr sz="4001"/>
            </a:lvl8pPr>
            <a:lvl9pPr marL="14632229" indent="0">
              <a:buNone/>
              <a:defRPr sz="400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752601"/>
            <a:ext cx="7886700" cy="27896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752601"/>
            <a:ext cx="23202901" cy="27896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1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1" y="1752608"/>
            <a:ext cx="3154680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1" y="8763001"/>
            <a:ext cx="31546800" cy="20886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2" y="30510487"/>
            <a:ext cx="82296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92872-8902-EB46-B962-9D801E5737E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1" y="30510487"/>
            <a:ext cx="123444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0510487"/>
            <a:ext cx="82296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3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8057" rtl="0" eaLnBrk="1" latinLnBrk="0" hangingPunct="1">
        <a:lnSpc>
          <a:spcPct val="90000"/>
        </a:lnSpc>
        <a:spcBef>
          <a:spcPct val="0"/>
        </a:spcBef>
        <a:buNone/>
        <a:defRPr sz="176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514" indent="-914514" algn="l" defTabSz="3658057" rtl="0" eaLnBrk="1" latinLnBrk="0" hangingPunct="1">
        <a:lnSpc>
          <a:spcPct val="90000"/>
        </a:lnSpc>
        <a:spcBef>
          <a:spcPts val="4001"/>
        </a:spcBef>
        <a:buFont typeface="Arial" panose="020B0604020202020204" pitchFamily="34" charset="0"/>
        <a:buChar char="•"/>
        <a:defRPr sz="11201" kern="1200">
          <a:solidFill>
            <a:schemeClr val="tx1"/>
          </a:solidFill>
          <a:latin typeface="+mn-lt"/>
          <a:ea typeface="+mn-ea"/>
          <a:cs typeface="+mn-cs"/>
        </a:defRPr>
      </a:lvl1pPr>
      <a:lvl2pPr marL="2743543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1" kern="1200">
          <a:solidFill>
            <a:schemeClr val="tx1"/>
          </a:solidFill>
          <a:latin typeface="+mn-lt"/>
          <a:ea typeface="+mn-ea"/>
          <a:cs typeface="+mn-cs"/>
        </a:defRPr>
      </a:lvl2pPr>
      <a:lvl3pPr marL="4572572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1" kern="1200">
          <a:solidFill>
            <a:schemeClr val="tx1"/>
          </a:solidFill>
          <a:latin typeface="+mn-lt"/>
          <a:ea typeface="+mn-ea"/>
          <a:cs typeface="+mn-cs"/>
        </a:defRPr>
      </a:lvl3pPr>
      <a:lvl4pPr marL="6401600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4pPr>
      <a:lvl5pPr marL="8230629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5pPr>
      <a:lvl6pPr marL="10059657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6pPr>
      <a:lvl7pPr marL="11888686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7pPr>
      <a:lvl8pPr marL="13717715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8pPr>
      <a:lvl9pPr marL="15546743" indent="-914514" algn="l" defTabSz="3658057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1pPr>
      <a:lvl2pPr marL="1829029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2pPr>
      <a:lvl3pPr marL="3658057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3pPr>
      <a:lvl4pPr marL="5487086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4pPr>
      <a:lvl5pPr marL="7316114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5pPr>
      <a:lvl6pPr marL="9145143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6pPr>
      <a:lvl7pPr marL="10974172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7pPr>
      <a:lvl8pPr marL="12803200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8pPr>
      <a:lvl9pPr marL="14632229" algn="l" defTabSz="3658057" rtl="0" eaLnBrk="1" latinLnBrk="0" hangingPunct="1">
        <a:defRPr sz="72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B12595-8182-FA4B-8359-E7C985F3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4572000"/>
          </a:xfrm>
          <a:prstGeom prst="rect">
            <a:avLst/>
          </a:prstGeom>
        </p:spPr>
      </p:pic>
      <p:pic>
        <p:nvPicPr>
          <p:cNvPr id="2" name="Picture 1" descr="UPDATEDInterlockingUH-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565904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E2EA086-91C5-BF7D-08EB-09E86A456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096"/>
            <a:ext cx="36474400" cy="4559300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CB03072-82BF-E5DB-C229-2335C418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" y="18796"/>
            <a:ext cx="36576002" cy="4559300"/>
          </a:xfrm>
          <a:prstGeom prst="rect">
            <a:avLst/>
          </a:prstGeom>
        </p:spPr>
      </p:pic>
      <p:pic>
        <p:nvPicPr>
          <p:cNvPr id="18" name="Picture 17" descr="Logo&#10;&#10;Description automatically generated with medium confidence">
            <a:extLst>
              <a:ext uri="{FF2B5EF4-FFF2-40B4-BE49-F238E27FC236}">
                <a16:creationId xmlns:a16="http://schemas.microsoft.com/office/drawing/2014/main" id="{BF6C8C02-B7C9-1F95-651C-1E84866A6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6096"/>
            <a:ext cx="36576000" cy="4672076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4D197AE7-E715-4301-82A5-ECF84E863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" y="6605"/>
            <a:ext cx="36576002" cy="4559300"/>
          </a:xfrm>
          <a:prstGeom prst="rect">
            <a:avLst/>
          </a:prstGeom>
        </p:spPr>
      </p:pic>
      <p:pic>
        <p:nvPicPr>
          <p:cNvPr id="22" name="Picture 21" descr="Text&#10;&#10;Description automatically generated">
            <a:extLst>
              <a:ext uri="{FF2B5EF4-FFF2-40B4-BE49-F238E27FC236}">
                <a16:creationId xmlns:a16="http://schemas.microsoft.com/office/drawing/2014/main" id="{4F67F672-9079-4D67-447B-B615774B5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81788"/>
            <a:ext cx="36576000" cy="4672076"/>
          </a:xfrm>
          <a:prstGeom prst="rect">
            <a:avLst/>
          </a:prstGeom>
        </p:spPr>
      </p:pic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2A8B5823-8C6D-5186-FC71-E052A5FAA8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" y="6353"/>
            <a:ext cx="36576002" cy="455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E9FAD-2E5B-464E-90BE-034523B05391}"/>
              </a:ext>
            </a:extLst>
          </p:cNvPr>
          <p:cNvSpPr txBox="1"/>
          <p:nvPr/>
        </p:nvSpPr>
        <p:spPr>
          <a:xfrm>
            <a:off x="422603" y="5823710"/>
            <a:ext cx="179092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When bolts loosen, structures fail, and the first warning may come as a sound.</a:t>
            </a:r>
            <a:br>
              <a:rPr lang="en-US" sz="2400" dirty="0"/>
            </a:br>
            <a:r>
              <a:rPr lang="en-US" sz="2400" dirty="0"/>
              <a:t>In critical environments like offshore rigs, pipelines, or naval vessels, early detection of flange looseness isn’t just maintenance, it’s prevention.</a:t>
            </a:r>
          </a:p>
          <a:p>
            <a:r>
              <a:rPr lang="en-US" sz="2400" u="sng" dirty="0"/>
              <a:t>This competition asked a simple but high-stakes question:</a:t>
            </a:r>
            <a:br>
              <a:rPr lang="en-US" sz="2400" dirty="0"/>
            </a:br>
            <a:r>
              <a:rPr lang="en-US" sz="2400" b="1" dirty="0"/>
              <a:t>Can we classify bolt tightness from audio impacts accurately, quickly, and robustly?</a:t>
            </a:r>
          </a:p>
          <a:p>
            <a:r>
              <a:rPr lang="en-US" sz="2400" dirty="0"/>
              <a:t>Personally, this challenge wasn’t just classification. It was </a:t>
            </a:r>
            <a:r>
              <a:rPr lang="en-US" sz="2400" b="1" dirty="0"/>
              <a:t>real-time classification. </a:t>
            </a:r>
            <a:r>
              <a:rPr lang="en-US" sz="2400" dirty="0"/>
              <a:t>That means models must be </a:t>
            </a:r>
            <a:r>
              <a:rPr lang="en-US" sz="2400" b="1" dirty="0"/>
              <a:t>fast enough </a:t>
            </a:r>
            <a:r>
              <a:rPr lang="en-US" sz="2400" dirty="0"/>
              <a:t>for real-time deployment and </a:t>
            </a:r>
            <a:r>
              <a:rPr lang="en-US" sz="2400" b="1" dirty="0"/>
              <a:t>lightweight</a:t>
            </a:r>
            <a:r>
              <a:rPr lang="en-US" sz="2400" dirty="0"/>
              <a:t> for edge devices or embedded systems.</a:t>
            </a:r>
          </a:p>
          <a:p>
            <a:r>
              <a:rPr lang="en-US" sz="2400" u="sng" dirty="0"/>
              <a:t>We faced three levels of evaluation:</a:t>
            </a:r>
          </a:p>
          <a:p>
            <a:pPr marL="342943" indent="-342943">
              <a:buFont typeface="Arial" panose="020B0604020202020204" pitchFamily="34" charset="0"/>
              <a:buChar char="•"/>
            </a:pPr>
            <a:r>
              <a:rPr lang="en-US" sz="2400" b="1" dirty="0"/>
              <a:t>Dependent Test</a:t>
            </a:r>
            <a:r>
              <a:rPr lang="en-US" sz="2400" dirty="0"/>
              <a:t> — Performance on familiar data (70/30 split)</a:t>
            </a:r>
          </a:p>
          <a:p>
            <a:pPr marL="342943" indent="-342943">
              <a:buFont typeface="Arial" panose="020B0604020202020204" pitchFamily="34" charset="0"/>
              <a:buChar char="•"/>
            </a:pPr>
            <a:r>
              <a:rPr lang="en-US" sz="2400" b="1" dirty="0"/>
              <a:t>Independent Test</a:t>
            </a:r>
            <a:r>
              <a:rPr lang="en-US" sz="2400" dirty="0"/>
              <a:t> — Generalization to new flanges</a:t>
            </a:r>
          </a:p>
          <a:p>
            <a:pPr marL="342943" indent="-342943">
              <a:buFont typeface="Arial" panose="020B0604020202020204" pitchFamily="34" charset="0"/>
              <a:buChar char="•"/>
            </a:pPr>
            <a:r>
              <a:rPr lang="en-US" sz="2400" b="1" dirty="0"/>
              <a:t>Experimental Test</a:t>
            </a:r>
            <a:r>
              <a:rPr lang="en-US" sz="2400" dirty="0"/>
              <a:t> — Full autonomy with no labels, only judgment</a:t>
            </a:r>
          </a:p>
          <a:p>
            <a:r>
              <a:rPr lang="en-US" sz="2400" dirty="0"/>
              <a:t>And eventually, these evaluation stages will shape the design and focus of our solution.</a:t>
            </a:r>
          </a:p>
          <a:p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516D3-94C9-45C6-8A11-EA3A7FBCB6C5}"/>
              </a:ext>
            </a:extLst>
          </p:cNvPr>
          <p:cNvSpPr txBox="1"/>
          <p:nvPr/>
        </p:nvSpPr>
        <p:spPr>
          <a:xfrm>
            <a:off x="4691271" y="126889"/>
            <a:ext cx="31436366" cy="4617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1" dirty="0">
                <a:solidFill>
                  <a:srgbClr val="FFFF00"/>
                </a:solidFill>
              </a:rPr>
              <a:t>Project Title: </a:t>
            </a:r>
            <a:r>
              <a:rPr lang="en-US" sz="6602" b="1" dirty="0">
                <a:solidFill>
                  <a:schemeClr val="bg1"/>
                </a:solidFill>
              </a:rPr>
              <a:t>Simplicity Beats Complexity: FFT + SVM for Flange Looseness Detection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5400" b="1" dirty="0">
                <a:solidFill>
                  <a:schemeClr val="bg1"/>
                </a:solidFill>
              </a:rPr>
              <a:t>Smart feature engineering was the key: </a:t>
            </a:r>
            <a:r>
              <a:rPr lang="en-US" sz="5400" dirty="0">
                <a:solidFill>
                  <a:schemeClr val="bg1"/>
                </a:solidFill>
              </a:rPr>
              <a:t>The secret wasn’t more data. It was knowing what to do with it</a:t>
            </a:r>
            <a:r>
              <a:rPr lang="en-US" sz="800" dirty="0"/>
              <a:t>.</a:t>
            </a:r>
            <a:br>
              <a:rPr lang="en-US" sz="2400" dirty="0"/>
            </a:br>
            <a:endParaRPr lang="en-US" sz="8001" dirty="0">
              <a:solidFill>
                <a:schemeClr val="bg1"/>
              </a:solidFill>
            </a:endParaRPr>
          </a:p>
          <a:p>
            <a:endParaRPr lang="en-US" sz="800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DD626-1ACE-481B-A1C2-B30D9E599533}"/>
              </a:ext>
            </a:extLst>
          </p:cNvPr>
          <p:cNvSpPr txBox="1"/>
          <p:nvPr/>
        </p:nvSpPr>
        <p:spPr>
          <a:xfrm>
            <a:off x="4864655" y="2475527"/>
            <a:ext cx="31436366" cy="212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1" dirty="0">
                <a:solidFill>
                  <a:schemeClr val="bg1"/>
                </a:solidFill>
              </a:rPr>
              <a:t>Choayeb Barchouchi, </a:t>
            </a:r>
            <a:r>
              <a:rPr lang="en-US" sz="7201" dirty="0">
                <a:solidFill>
                  <a:srgbClr val="FFFF00"/>
                </a:solidFill>
              </a:rPr>
              <a:t>Graduate Student</a:t>
            </a:r>
            <a:r>
              <a:rPr lang="en-US" sz="7201" dirty="0">
                <a:solidFill>
                  <a:schemeClr val="bg1"/>
                </a:solidFill>
              </a:rPr>
              <a:t> </a:t>
            </a:r>
          </a:p>
          <a:p>
            <a:r>
              <a:rPr lang="en-US" sz="6001" b="1" dirty="0">
                <a:solidFill>
                  <a:schemeClr val="bg1"/>
                </a:solidFill>
              </a:rPr>
              <a:t>Department of Mechanical Engineering, Cullen College of Engineering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8B3C3-AD04-4459-8C4E-BB4BD85ACC26}"/>
              </a:ext>
            </a:extLst>
          </p:cNvPr>
          <p:cNvSpPr txBox="1"/>
          <p:nvPr/>
        </p:nvSpPr>
        <p:spPr>
          <a:xfrm>
            <a:off x="364598" y="4914822"/>
            <a:ext cx="17714044" cy="83112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Problem Statement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253091-1B42-458F-A9BC-0B90E2802DBA}"/>
              </a:ext>
            </a:extLst>
          </p:cNvPr>
          <p:cNvSpPr txBox="1"/>
          <p:nvPr/>
        </p:nvSpPr>
        <p:spPr>
          <a:xfrm>
            <a:off x="306873" y="14926491"/>
            <a:ext cx="176309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The experimental pipeline system consists of four bolted flanges (Flange 1 to Flange 4) mounted along a steel pipe. Each flange was struck with a steel hammer across four designated zones (Areas 1–4) to capture spatial variation. The resulting acoustic impact signals were recorded using an iPhone microphone at a 48 kHz sampling rate.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For the dependent and independent tests, the organizers supplied a labeled dataset of </a:t>
            </a:r>
            <a:r>
              <a:rPr lang="en-US" sz="2400" b="1" dirty="0"/>
              <a:t>960 audio samples.</a:t>
            </a:r>
            <a:endParaRPr lang="en-US" sz="2400" dirty="0"/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For the experimental task, we were able to extract our own </a:t>
            </a:r>
            <a:r>
              <a:rPr lang="en-US" sz="2400" b="1" dirty="0"/>
              <a:t>unlabeled audio recordings</a:t>
            </a:r>
            <a:r>
              <a:rPr lang="en-US" sz="2400" dirty="0"/>
              <a:t>  from the same flange setup.</a:t>
            </a:r>
          </a:p>
          <a:p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DB01F4-06D3-403A-850C-FCC02C85E649}"/>
              </a:ext>
            </a:extLst>
          </p:cNvPr>
          <p:cNvSpPr txBox="1"/>
          <p:nvPr/>
        </p:nvSpPr>
        <p:spPr>
          <a:xfrm>
            <a:off x="306872" y="13915652"/>
            <a:ext cx="17630924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Experimental Setup and Collection of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3AA207-79A4-4B4B-98E7-424F034CA72A}"/>
              </a:ext>
            </a:extLst>
          </p:cNvPr>
          <p:cNvSpPr txBox="1"/>
          <p:nvPr/>
        </p:nvSpPr>
        <p:spPr>
          <a:xfrm>
            <a:off x="18508567" y="4977714"/>
            <a:ext cx="17619078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Results, Analysis and Discussion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9AD4C4-3E6A-480E-8863-FFF6174A5F0B}"/>
              </a:ext>
            </a:extLst>
          </p:cNvPr>
          <p:cNvSpPr txBox="1"/>
          <p:nvPr/>
        </p:nvSpPr>
        <p:spPr>
          <a:xfrm>
            <a:off x="18566311" y="6995168"/>
            <a:ext cx="17376267" cy="56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6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3EDB78-0A50-4A45-BC3B-992F030F2D05}"/>
              </a:ext>
            </a:extLst>
          </p:cNvPr>
          <p:cNvSpPr txBox="1"/>
          <p:nvPr/>
        </p:nvSpPr>
        <p:spPr>
          <a:xfrm>
            <a:off x="18546136" y="5840694"/>
            <a:ext cx="17561337" cy="19299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800" b="1" dirty="0"/>
              <a:t>Model Comparison: Performance &amp; Practicality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1801" dirty="0"/>
              <a:t>                                        Table 4: Classification Models Comparison (SVM VS CNN VS RNN)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800" b="1" dirty="0"/>
              <a:t>Comparative Analysis of Feature Selection Methods on FFT &amp; MFCC Inputs:</a:t>
            </a:r>
          </a:p>
          <a:p>
            <a:endParaRPr lang="en-US" sz="2400" b="1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55" indent="-457255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1801" dirty="0"/>
              <a:t>              Table 5: Feature Reduction for FFT Comparison (ANOVA F VS PCA VS LDA)                                          Table 6: Feature Reduction for MFCC Comparison (ANOVA F VS PCA VS LDA)</a:t>
            </a:r>
          </a:p>
          <a:p>
            <a:endParaRPr lang="en-US" sz="1801" dirty="0"/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800" b="1" dirty="0"/>
              <a:t>Results and Finding of Selected Best Model + Best Feature Reduction:</a:t>
            </a:r>
          </a:p>
          <a:p>
            <a:r>
              <a:rPr lang="en-US" sz="2800" u="sng" dirty="0"/>
              <a:t>Dependent and Independent Classification:</a:t>
            </a:r>
          </a:p>
          <a:p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r>
              <a:rPr lang="en-US" sz="1801" dirty="0"/>
              <a:t>     </a:t>
            </a:r>
          </a:p>
          <a:p>
            <a:endParaRPr lang="en-US" sz="1801" dirty="0"/>
          </a:p>
          <a:p>
            <a:endParaRPr lang="en-US" sz="1801" dirty="0"/>
          </a:p>
          <a:p>
            <a:r>
              <a:rPr lang="en-US" sz="1801" dirty="0"/>
              <a:t>                                                                                 </a:t>
            </a:r>
          </a:p>
          <a:p>
            <a:r>
              <a:rPr lang="en-US" sz="1801" dirty="0"/>
              <a:t> Table 7: Evaluation Summary (Dependent Vs Independent Testing)                   Table 8: Independent Test (Per Flange Performance)</a:t>
            </a:r>
          </a:p>
          <a:p>
            <a:r>
              <a:rPr lang="en-US" sz="18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1800" u="sng" dirty="0"/>
          </a:p>
          <a:p>
            <a:r>
              <a:rPr lang="en-US" sz="18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Fig 2: Dependent Test Confusion Matrix</a:t>
            </a:r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r>
              <a:rPr lang="en-US" sz="1801" dirty="0"/>
              <a:t>                                                                                                                                </a:t>
            </a:r>
          </a:p>
          <a:p>
            <a:endParaRPr lang="en-US" sz="1801" dirty="0"/>
          </a:p>
          <a:p>
            <a:endParaRPr lang="en-US" sz="1801" dirty="0"/>
          </a:p>
          <a:p>
            <a:endParaRPr lang="en-US" sz="1801" dirty="0"/>
          </a:p>
          <a:p>
            <a:endParaRPr lang="en-US" sz="1801" dirty="0"/>
          </a:p>
          <a:p>
            <a:r>
              <a:rPr lang="en-US" sz="1801" dirty="0"/>
              <a:t>        </a:t>
            </a:r>
          </a:p>
          <a:p>
            <a:r>
              <a:rPr lang="en-US" sz="1801" dirty="0"/>
              <a:t>                                                                                                                        </a:t>
            </a:r>
            <a:endParaRPr lang="en-US" sz="1801" u="sng" dirty="0"/>
          </a:p>
          <a:p>
            <a:r>
              <a:rPr lang="en-US" sz="1800" dirty="0"/>
              <a:t>                                                                                                                             Fig 3: Independent Test Confusion Matrix</a:t>
            </a:r>
            <a:endParaRPr lang="en-US" sz="1800" u="sng" dirty="0"/>
          </a:p>
          <a:p>
            <a:r>
              <a:rPr lang="en-US" sz="2800" u="sng" dirty="0"/>
              <a:t>Experimental Test:</a:t>
            </a:r>
          </a:p>
          <a:p>
            <a:pPr marL="571569" indent="-571569">
              <a:buFont typeface="+mj-lt"/>
              <a:buAutoNum type="romanLcPeriod"/>
            </a:pPr>
            <a:endParaRPr lang="en-US" sz="3200" u="sng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1801" dirty="0"/>
          </a:p>
          <a:p>
            <a:r>
              <a:rPr lang="en-US" sz="1801" dirty="0"/>
              <a:t>                                                                                                                                      </a:t>
            </a:r>
          </a:p>
          <a:p>
            <a:r>
              <a:rPr lang="en-US" sz="1801" dirty="0"/>
              <a:t>                                                                                                                                  Fig 4: Experimental Results Statistics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DD9114-DE41-471D-8215-AAC2B4BF2DF3}"/>
              </a:ext>
            </a:extLst>
          </p:cNvPr>
          <p:cNvSpPr txBox="1"/>
          <p:nvPr/>
        </p:nvSpPr>
        <p:spPr>
          <a:xfrm>
            <a:off x="18437340" y="25083532"/>
            <a:ext cx="17688496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0D6209-E30F-45B1-825D-DB9F7A80976F}"/>
              </a:ext>
            </a:extLst>
          </p:cNvPr>
          <p:cNvSpPr txBox="1"/>
          <p:nvPr/>
        </p:nvSpPr>
        <p:spPr>
          <a:xfrm>
            <a:off x="18441744" y="25852316"/>
            <a:ext cx="176657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Findings: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FFT + ANOVA feature selection gave the best trade-off: </a:t>
            </a:r>
            <a:r>
              <a:rPr lang="en-US" sz="2400" b="1" dirty="0"/>
              <a:t>96.9% accuracy with minimal cost.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MFCC features performed decently with SVM + ANOVA (up to 90% accuracy) but required much </a:t>
            </a:r>
            <a:r>
              <a:rPr lang="en-US" sz="2400" b="1" dirty="0"/>
              <a:t>more memory and compute time.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SVM classifier was </a:t>
            </a:r>
            <a:r>
              <a:rPr lang="en-US" sz="2400" b="1" dirty="0"/>
              <a:t>fast, accurate, and robust</a:t>
            </a:r>
            <a:r>
              <a:rPr lang="en-US" sz="2400" dirty="0"/>
              <a:t> across flanges with respect to other classification methods.</a:t>
            </a:r>
          </a:p>
          <a:p>
            <a:r>
              <a:rPr lang="en-US" sz="2400" b="1" u="sng" dirty="0"/>
              <a:t>Future Work: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Port the model to a </a:t>
            </a:r>
            <a:r>
              <a:rPr lang="en-US" sz="2400" b="1" dirty="0"/>
              <a:t>low-power embedded system</a:t>
            </a:r>
            <a:r>
              <a:rPr lang="en-US" sz="2400" dirty="0"/>
              <a:t> for on-site torque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Explore </a:t>
            </a:r>
            <a:r>
              <a:rPr lang="en-US" sz="2400" b="1" dirty="0"/>
              <a:t>online learning or model updating</a:t>
            </a:r>
            <a:r>
              <a:rPr lang="en-US" sz="2400" dirty="0"/>
              <a:t> for real-time adaptation.</a:t>
            </a:r>
            <a:endParaRPr lang="en-US" sz="2400" b="1" u="sng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7399EC-437D-4653-B959-77FC4F4801BE}"/>
              </a:ext>
            </a:extLst>
          </p:cNvPr>
          <p:cNvSpPr txBox="1"/>
          <p:nvPr/>
        </p:nvSpPr>
        <p:spPr>
          <a:xfrm>
            <a:off x="18441745" y="28600852"/>
            <a:ext cx="17630926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Acknowledgements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5F4710-1825-46A0-BB3D-5ADA2C2E4B7A}"/>
              </a:ext>
            </a:extLst>
          </p:cNvPr>
          <p:cNvSpPr txBox="1"/>
          <p:nvPr/>
        </p:nvSpPr>
        <p:spPr>
          <a:xfrm>
            <a:off x="18454915" y="29358031"/>
            <a:ext cx="17434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Thanks to </a:t>
            </a:r>
            <a:r>
              <a:rPr lang="en-US" sz="2400" b="1" dirty="0"/>
              <a:t>Prof. Song</a:t>
            </a:r>
            <a:r>
              <a:rPr lang="en-US" sz="2400" dirty="0"/>
              <a:t> and his graduate students for their guidance and support throughout the course.</a:t>
            </a:r>
            <a:br>
              <a:rPr lang="en-US" sz="2400" dirty="0"/>
            </a:br>
            <a:r>
              <a:rPr lang="en-US" sz="2400" dirty="0"/>
              <a:t>Special thanks to </a:t>
            </a:r>
            <a:r>
              <a:rPr lang="en-US" sz="2400" b="1" dirty="0"/>
              <a:t>Midstream Integrity Services (MIS)</a:t>
            </a:r>
            <a:r>
              <a:rPr lang="en-US" sz="2400" dirty="0"/>
              <a:t> for financial support, and to </a:t>
            </a:r>
            <a:r>
              <a:rPr lang="en-US" sz="2400" b="1" dirty="0"/>
              <a:t>SMSL</a:t>
            </a:r>
            <a:r>
              <a:rPr lang="en-US" sz="2400" dirty="0"/>
              <a:t> and </a:t>
            </a:r>
            <a:r>
              <a:rPr lang="en-US" sz="2400" b="1" dirty="0"/>
              <a:t>AILMI</a:t>
            </a:r>
            <a:r>
              <a:rPr lang="en-US" sz="2400" dirty="0"/>
              <a:t> at the University of Houston for their technical expertise and resources.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6C059E-A6BE-490E-BE41-DFAAFFC3D8E5}"/>
              </a:ext>
            </a:extLst>
          </p:cNvPr>
          <p:cNvSpPr txBox="1"/>
          <p:nvPr/>
        </p:nvSpPr>
        <p:spPr>
          <a:xfrm>
            <a:off x="18422693" y="30667644"/>
            <a:ext cx="17630926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References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AF12BE-E9C4-41C4-B186-1F8C657B7767}"/>
              </a:ext>
            </a:extLst>
          </p:cNvPr>
          <p:cNvSpPr txBox="1"/>
          <p:nvPr/>
        </p:nvSpPr>
        <p:spPr>
          <a:xfrm>
            <a:off x="18437340" y="31480274"/>
            <a:ext cx="171602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i="1" dirty="0"/>
              <a:t>A Fault Detection Method Based on Embedded Feature Extraction and SVM Classification for UAV Motors.</a:t>
            </a:r>
            <a:r>
              <a:rPr lang="en-US" sz="1600" dirty="0"/>
              <a:t> </a:t>
            </a:r>
            <a:r>
              <a:rPr lang="en-US" sz="1400" dirty="0"/>
              <a:t>Yildirim, Y., &amp; Yildirim, M. (2023).</a:t>
            </a:r>
          </a:p>
          <a:p>
            <a:pPr marL="342900" indent="-342900">
              <a:buAutoNum type="arabicPeriod"/>
            </a:pPr>
            <a:r>
              <a:rPr lang="en-US" sz="1600" dirty="0"/>
              <a:t>A new fault diagnosis method for rotating machinery based on adaptive multi-scale morphological filter and modified ensemble empirical mode decomposition. </a:t>
            </a:r>
            <a:r>
              <a:rPr lang="en-US" sz="1400" dirty="0"/>
              <a:t>Jiang, W., &amp; He, H. (2016</a:t>
            </a:r>
            <a:r>
              <a:rPr lang="en-US" sz="800" dirty="0"/>
              <a:t>).</a:t>
            </a:r>
            <a:endParaRPr lang="en-US" sz="1600" dirty="0">
              <a:latin typeface="Calibri" panose="020F0502020204030204" pitchFamily="34" charset="0"/>
              <a:ea typeface="DengXian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sz="1600" dirty="0"/>
              <a:t>Benchmarking Audio Signal Representation Techniques for Classification with Convolutional Neural Networks. </a:t>
            </a:r>
            <a:r>
              <a:rPr lang="en-US" sz="1400" dirty="0"/>
              <a:t>Sharan, R. V., Xiong, H., &amp; </a:t>
            </a:r>
            <a:r>
              <a:rPr lang="en-US" sz="1400" dirty="0" err="1"/>
              <a:t>Berkovsky</a:t>
            </a:r>
            <a:r>
              <a:rPr lang="en-US" sz="1400" dirty="0"/>
              <a:t>, S. (2021).</a:t>
            </a:r>
            <a:endParaRPr lang="en-US" sz="1400" dirty="0">
              <a:latin typeface="Calibri" panose="020F0502020204030204" pitchFamily="34" charset="0"/>
              <a:ea typeface="DengXian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sz="1600" i="1" dirty="0"/>
              <a:t>Fast Fourier Transform-based Support Vector Machine for Subcellular Localization Prediction. Acta </a:t>
            </a:r>
            <a:r>
              <a:rPr lang="en-US" sz="1600" i="1" dirty="0" err="1"/>
              <a:t>Biochimica</a:t>
            </a:r>
            <a:r>
              <a:rPr lang="en-US" sz="1600" i="1" dirty="0"/>
              <a:t> et </a:t>
            </a:r>
            <a:r>
              <a:rPr lang="en-US" sz="1600" i="1" dirty="0" err="1"/>
              <a:t>Biophysica</a:t>
            </a:r>
            <a:r>
              <a:rPr lang="en-US" sz="1600" i="1" dirty="0"/>
              <a:t> Sinica. </a:t>
            </a:r>
            <a:r>
              <a:rPr lang="da-DK" sz="1400" dirty="0"/>
              <a:t>Wang, Z., et al. (2007).</a:t>
            </a:r>
          </a:p>
          <a:p>
            <a:pPr marL="342900" indent="-342900">
              <a:buAutoNum type="arabicPeriod"/>
            </a:pPr>
            <a:r>
              <a:rPr lang="en-US" sz="1600" i="1" dirty="0"/>
              <a:t>Signal Classification with an SVM-FFT Approach for Feature Extraction in Cognitive Radio. IEEE Conference on Cognitive Radio. </a:t>
            </a:r>
            <a:r>
              <a:rPr lang="fr-FR" sz="1400" dirty="0"/>
              <a:t>Martinez Ramon, M., et al. (2009).</a:t>
            </a:r>
            <a:endParaRPr lang="da-DK" sz="1400" dirty="0"/>
          </a:p>
          <a:p>
            <a:endParaRPr lang="en-US" sz="1400" dirty="0">
              <a:latin typeface="Calibri" panose="020F0502020204030204" pitchFamily="34" charset="0"/>
              <a:ea typeface="DengXian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5A5915-70FB-4960-A195-60016AB84D99}"/>
              </a:ext>
            </a:extLst>
          </p:cNvPr>
          <p:cNvSpPr/>
          <p:nvPr/>
        </p:nvSpPr>
        <p:spPr>
          <a:xfrm>
            <a:off x="350407" y="4894326"/>
            <a:ext cx="17728235" cy="508436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927996-FDBF-4EF8-BD38-00B70675DEF4}"/>
              </a:ext>
            </a:extLst>
          </p:cNvPr>
          <p:cNvSpPr/>
          <p:nvPr/>
        </p:nvSpPr>
        <p:spPr>
          <a:xfrm>
            <a:off x="313471" y="13902517"/>
            <a:ext cx="17630924" cy="85921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40EB9E-D9C4-440A-A47B-7887C4179708}"/>
              </a:ext>
            </a:extLst>
          </p:cNvPr>
          <p:cNvSpPr/>
          <p:nvPr/>
        </p:nvSpPr>
        <p:spPr>
          <a:xfrm>
            <a:off x="18430282" y="28600852"/>
            <a:ext cx="17648323" cy="194041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0F25C9-A406-49C2-BA29-4B05D92C217F}"/>
              </a:ext>
            </a:extLst>
          </p:cNvPr>
          <p:cNvSpPr/>
          <p:nvPr/>
        </p:nvSpPr>
        <p:spPr>
          <a:xfrm>
            <a:off x="18441745" y="30667644"/>
            <a:ext cx="17665723" cy="21238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C9C4E1-4A3B-4F74-AAAE-1DB452244ED3}"/>
              </a:ext>
            </a:extLst>
          </p:cNvPr>
          <p:cNvSpPr/>
          <p:nvPr/>
        </p:nvSpPr>
        <p:spPr>
          <a:xfrm>
            <a:off x="18421583" y="25083532"/>
            <a:ext cx="17665719" cy="33683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F635C-E4C9-4CE8-9C70-F06E4FB88287}"/>
              </a:ext>
            </a:extLst>
          </p:cNvPr>
          <p:cNvSpPr/>
          <p:nvPr/>
        </p:nvSpPr>
        <p:spPr>
          <a:xfrm>
            <a:off x="18496716" y="4970016"/>
            <a:ext cx="17630926" cy="199352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67B05-0937-CD22-590E-4C1C9B340485}"/>
              </a:ext>
            </a:extLst>
          </p:cNvPr>
          <p:cNvSpPr txBox="1"/>
          <p:nvPr/>
        </p:nvSpPr>
        <p:spPr>
          <a:xfrm>
            <a:off x="332970" y="10220664"/>
            <a:ext cx="17630924" cy="83112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Brief Literature Review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D53CD-A47A-2F4F-58E0-CD87CDCBBF0C}"/>
              </a:ext>
            </a:extLst>
          </p:cNvPr>
          <p:cNvSpPr/>
          <p:nvPr/>
        </p:nvSpPr>
        <p:spPr>
          <a:xfrm>
            <a:off x="336223" y="10198574"/>
            <a:ext cx="17616260" cy="34619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9F45E3-CD7C-B8EA-1EF9-B28DF7B2ECC3}"/>
                  </a:ext>
                </a:extLst>
              </p:cNvPr>
              <p:cNvSpPr txBox="1"/>
              <p:nvPr/>
            </p:nvSpPr>
            <p:spPr>
              <a:xfrm>
                <a:off x="321560" y="23436845"/>
                <a:ext cx="17630922" cy="932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This section outlines the complete pipeline, from signal processing and feature engineering to classification, and highlights the key innovations that drove my results.</a:t>
                </a:r>
              </a:p>
              <a:p>
                <a:r>
                  <a:rPr lang="en-US" sz="2400" b="1" dirty="0"/>
                  <a:t>Signal Processing &amp; Feature Extraction:</a:t>
                </a:r>
              </a:p>
              <a:p>
                <a:pPr marL="342943" indent="-342943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Fast Fourier Transform:</a:t>
                </a:r>
                <a:r>
                  <a:rPr lang="en-US" sz="2400" dirty="0"/>
                  <a:t> Utilized to convert time-domain signals into the frequency domain, capturing the spectral characteristics of each impact efficiently. Compared to MFCC and STFT, FFT offers a more straightforward and faster computation, making it suitable for real-time applications. In fact, FFT extraction was reported to be 3–5× faster than MFCC on average in audio processing task</a:t>
                </a:r>
                <a:endParaRPr lang="en-US" sz="2400" b="1" dirty="0"/>
              </a:p>
              <a:p>
                <a:pPr marL="342943" indent="-342943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Feature Selection:</a:t>
                </a:r>
                <a:r>
                  <a:rPr lang="en-US" sz="2400" dirty="0"/>
                  <a:t> Applied </a:t>
                </a:r>
                <a:r>
                  <a:rPr lang="en-US" sz="2400" b="1" dirty="0"/>
                  <a:t>ANOVA F-score</a:t>
                </a:r>
                <a:r>
                  <a:rPr lang="en-US" sz="2400" dirty="0"/>
                  <a:t> to rank FFT bins by their discriminative power, reducing the feature set from thousands to a more manageable size (around 100 features) with improvement in performance.</a:t>
                </a:r>
              </a:p>
              <a:p>
                <a:r>
                  <a:rPr lang="en-US" sz="2400" b="1" dirty="0"/>
                  <a:t>Classification</a:t>
                </a:r>
              </a:p>
              <a:p>
                <a:pPr marL="342943" indent="-342943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Support Vector Machine with RBF Kernel:</a:t>
                </a:r>
                <a:r>
                  <a:rPr lang="en-US" sz="2400" dirty="0"/>
                  <a:t> Chosen for its robustness and efficiency in handling high-dimensional data, providing a balance between complexity and performance. SVMs are less resource-intensive and require less training data than deep learning models, making them more practical for scenarios with limited  computational resources.</a:t>
                </a:r>
              </a:p>
              <a:p>
                <a:pPr marL="342943" indent="-342943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Model Evaluation: </a:t>
                </a:r>
                <a:r>
                  <a:rPr lang="en-US" sz="2400" dirty="0"/>
                  <a:t>A loop was performed over various values of </a:t>
                </a:r>
                <a:r>
                  <a:rPr lang="en-US" sz="2400" b="1" dirty="0"/>
                  <a:t>k</a:t>
                </a:r>
                <a:r>
                  <a:rPr lang="en-US" sz="2400" dirty="0"/>
                  <a:t> (number of top features), testing how the model performs using only the most informative bins (Ranged from 1% of the original features up to 30%). For each selected feature subset (k), I ran a </a:t>
                </a:r>
                <a:r>
                  <a:rPr lang="en-US" sz="2400" b="1" dirty="0"/>
                  <a:t>grid search</a:t>
                </a:r>
                <a:r>
                  <a:rPr lang="en-US" sz="2400" dirty="0"/>
                  <a:t> over SVM parameters (C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Models were evaluated using a </a:t>
                </a:r>
                <a:r>
                  <a:rPr lang="en-US" sz="2400" b="1" dirty="0"/>
                  <a:t>weighted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𝑺𝒄𝒐𝒓𝒆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𝑨𝒄𝒄𝒖𝒓𝒂𝒄𝒚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r>
                  <a:rPr lang="en-US" sz="2400" dirty="0"/>
                  <a:t>This was he milestone for selecting the model that performs well globally while remaining balanced across all torque classes.</a:t>
                </a:r>
                <a:endParaRPr lang="en-US" sz="2400" b="1" dirty="0"/>
              </a:p>
              <a:p>
                <a:endParaRPr lang="en-US" sz="2400" b="1" dirty="0">
                  <a:solidFill>
                    <a:srgbClr val="0066FF"/>
                  </a:solidFill>
                </a:endParaRPr>
              </a:p>
              <a:p>
                <a:endParaRPr lang="en-US" sz="2400" b="1" dirty="0">
                  <a:solidFill>
                    <a:srgbClr val="0066FF"/>
                  </a:solidFill>
                </a:endParaRPr>
              </a:p>
              <a:p>
                <a:endParaRPr lang="en-US" sz="2400" b="1" dirty="0">
                  <a:solidFill>
                    <a:srgbClr val="0066FF"/>
                  </a:solidFill>
                </a:endParaRPr>
              </a:p>
              <a:p>
                <a:r>
                  <a:rPr lang="en-US" sz="2400" dirty="0"/>
                  <a:t>           Fig 1: Fitting SVM Model Methodology</a:t>
                </a:r>
                <a:endParaRPr lang="en-US" sz="24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9F45E3-CD7C-B8EA-1EF9-B28DF7B2E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0" y="23436845"/>
                <a:ext cx="17630922" cy="9325630"/>
              </a:xfrm>
              <a:prstGeom prst="rect">
                <a:avLst/>
              </a:prstGeom>
              <a:blipFill>
                <a:blip r:embed="rId10"/>
                <a:stretch>
                  <a:fillRect l="-553" t="-523" r="-346" b="-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B55F0D7-A69B-D7C8-AF7D-D185EB6BC52A}"/>
              </a:ext>
            </a:extLst>
          </p:cNvPr>
          <p:cNvSpPr txBox="1"/>
          <p:nvPr/>
        </p:nvSpPr>
        <p:spPr>
          <a:xfrm>
            <a:off x="280764" y="22563873"/>
            <a:ext cx="17630924" cy="8311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1" dirty="0">
                <a:highlight>
                  <a:srgbClr val="FFFF00"/>
                </a:highlight>
              </a:rPr>
              <a:t>Methods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CC532-DF36-AB39-6823-348F9E6F293E}"/>
              </a:ext>
            </a:extLst>
          </p:cNvPr>
          <p:cNvSpPr/>
          <p:nvPr/>
        </p:nvSpPr>
        <p:spPr>
          <a:xfrm>
            <a:off x="280764" y="22563872"/>
            <a:ext cx="17630924" cy="102276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7E2CA7-1E59-B4EB-478A-5CD51DD696C5}"/>
              </a:ext>
            </a:extLst>
          </p:cNvPr>
          <p:cNvSpPr txBox="1"/>
          <p:nvPr/>
        </p:nvSpPr>
        <p:spPr>
          <a:xfrm>
            <a:off x="371048" y="11030692"/>
            <a:ext cx="175319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Previous work on bolt looseness detection has explored various signal processing and classification techniques, with a focus on extracting informative features from acoustic impacts: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FFT, STFT, MFCCs, and wavelets are commonly used for time-frequency analysis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Classifiers include KNN, Random Forests, and CNNs, with recent trends leaning toward deep learning</a:t>
            </a:r>
          </a:p>
          <a:p>
            <a:pPr marL="457255" indent="-457255">
              <a:buFont typeface="Arial" panose="020B0604020202020204" pitchFamily="34" charset="0"/>
              <a:buChar char="•"/>
            </a:pPr>
            <a:r>
              <a:rPr lang="en-US" sz="2400" dirty="0"/>
              <a:t>Patents highlight embedded DSP-based systems using vibro-acoustic sensing for flange monitoring</a:t>
            </a:r>
          </a:p>
          <a:p>
            <a:r>
              <a:rPr lang="en-US" sz="2400" dirty="0"/>
              <a:t>However, most approaches prioritize accuracy over speed and efficiency, leaving a gap in solutions suitable for real-time, low-resource deployment.</a:t>
            </a:r>
          </a:p>
        </p:txBody>
      </p:sp>
      <p:pic>
        <p:nvPicPr>
          <p:cNvPr id="1029" name="Picture 5" descr="Uploaded image">
            <a:extLst>
              <a:ext uri="{FF2B5EF4-FFF2-40B4-BE49-F238E27FC236}">
                <a16:creationId xmlns:a16="http://schemas.microsoft.com/office/drawing/2014/main" id="{B1B42FB2-1C19-901A-7BE8-406445F09A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01" b="39096"/>
          <a:stretch/>
        </p:blipFill>
        <p:spPr bwMode="auto">
          <a:xfrm>
            <a:off x="3307320" y="16148559"/>
            <a:ext cx="2229041" cy="25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Uploaded image">
            <a:extLst>
              <a:ext uri="{FF2B5EF4-FFF2-40B4-BE49-F238E27FC236}">
                <a16:creationId xmlns:a16="http://schemas.microsoft.com/office/drawing/2014/main" id="{553ECB30-D83A-9E4A-071A-985244B5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880" y="16148559"/>
            <a:ext cx="5173809" cy="25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Uploaded image">
            <a:extLst>
              <a:ext uri="{FF2B5EF4-FFF2-40B4-BE49-F238E27FC236}">
                <a16:creationId xmlns:a16="http://schemas.microsoft.com/office/drawing/2014/main" id="{CEBE09F0-5835-9272-051A-75344293A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715" y="16251510"/>
            <a:ext cx="3370040" cy="252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5FCF7E2-076F-C44F-4C16-6E41D2630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865745"/>
              </p:ext>
            </p:extLst>
          </p:nvPr>
        </p:nvGraphicFramePr>
        <p:xfrm>
          <a:off x="1087120" y="19809640"/>
          <a:ext cx="9258945" cy="21945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1789">
                  <a:extLst>
                    <a:ext uri="{9D8B030D-6E8A-4147-A177-3AD203B41FA5}">
                      <a16:colId xmlns:a16="http://schemas.microsoft.com/office/drawing/2014/main" val="1519678418"/>
                    </a:ext>
                  </a:extLst>
                </a:gridCol>
                <a:gridCol w="1851789">
                  <a:extLst>
                    <a:ext uri="{9D8B030D-6E8A-4147-A177-3AD203B41FA5}">
                      <a16:colId xmlns:a16="http://schemas.microsoft.com/office/drawing/2014/main" val="3497611479"/>
                    </a:ext>
                  </a:extLst>
                </a:gridCol>
                <a:gridCol w="1851789">
                  <a:extLst>
                    <a:ext uri="{9D8B030D-6E8A-4147-A177-3AD203B41FA5}">
                      <a16:colId xmlns:a16="http://schemas.microsoft.com/office/drawing/2014/main" val="842941663"/>
                    </a:ext>
                  </a:extLst>
                </a:gridCol>
                <a:gridCol w="1851789">
                  <a:extLst>
                    <a:ext uri="{9D8B030D-6E8A-4147-A177-3AD203B41FA5}">
                      <a16:colId xmlns:a16="http://schemas.microsoft.com/office/drawing/2014/main" val="352310474"/>
                    </a:ext>
                  </a:extLst>
                </a:gridCol>
                <a:gridCol w="1851789">
                  <a:extLst>
                    <a:ext uri="{9D8B030D-6E8A-4147-A177-3AD203B41FA5}">
                      <a16:colId xmlns:a16="http://schemas.microsoft.com/office/drawing/2014/main" val="2384117482"/>
                    </a:ext>
                  </a:extLst>
                </a:gridCol>
              </a:tblGrid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Flange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Torque 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Torque 20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Torque 40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170457336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647097484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135724452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015423593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816513451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960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224564429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E1134AF-2F92-E81B-2675-7D5D3796F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5068"/>
              </p:ext>
            </p:extLst>
          </p:nvPr>
        </p:nvGraphicFramePr>
        <p:xfrm>
          <a:off x="11913976" y="19715455"/>
          <a:ext cx="3634686" cy="25081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4184">
                  <a:extLst>
                    <a:ext uri="{9D8B030D-6E8A-4147-A177-3AD203B41FA5}">
                      <a16:colId xmlns:a16="http://schemas.microsoft.com/office/drawing/2014/main" val="1519678418"/>
                    </a:ext>
                  </a:extLst>
                </a:gridCol>
                <a:gridCol w="2330502">
                  <a:extLst>
                    <a:ext uri="{9D8B030D-6E8A-4147-A177-3AD203B41FA5}">
                      <a16:colId xmlns:a16="http://schemas.microsoft.com/office/drawing/2014/main" val="3497611479"/>
                    </a:ext>
                  </a:extLst>
                </a:gridCol>
              </a:tblGrid>
              <a:tr h="526927">
                <a:tc>
                  <a:txBody>
                    <a:bodyPr/>
                    <a:lstStyle/>
                    <a:p>
                      <a:r>
                        <a:rPr lang="en-US" sz="2000" dirty="0"/>
                        <a:t>Flange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Samples Collected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170457336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647097484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135724452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015423593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816513451"/>
                  </a:ext>
                </a:extLst>
              </a:tr>
              <a:tr h="325078">
                <a:tc>
                  <a:txBody>
                    <a:bodyPr/>
                    <a:lstStyle/>
                    <a:p>
                      <a:r>
                        <a:rPr lang="en-US" sz="2000" dirty="0"/>
                        <a:t>Total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8923353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F5FDBA3-3081-D47A-B74D-1C6D9B0755D2}"/>
              </a:ext>
            </a:extLst>
          </p:cNvPr>
          <p:cNvSpPr txBox="1"/>
          <p:nvPr/>
        </p:nvSpPr>
        <p:spPr>
          <a:xfrm>
            <a:off x="3415308" y="21973251"/>
            <a:ext cx="427611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/>
              <a:t>Table 1: Task 1 and 2 data distribution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D4E4B4-A367-07DF-F052-DF373D6F2487}"/>
              </a:ext>
            </a:extLst>
          </p:cNvPr>
          <p:cNvSpPr txBox="1"/>
          <p:nvPr/>
        </p:nvSpPr>
        <p:spPr>
          <a:xfrm>
            <a:off x="11958575" y="22163926"/>
            <a:ext cx="332935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/>
              <a:t>Table 2: Task 3 data distribution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6BA33F-A519-4482-C1AD-FEDBCC4B740A}"/>
              </a:ext>
            </a:extLst>
          </p:cNvPr>
          <p:cNvSpPr/>
          <p:nvPr/>
        </p:nvSpPr>
        <p:spPr>
          <a:xfrm>
            <a:off x="592642" y="31381759"/>
            <a:ext cx="1711181" cy="601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Raw Audio Signals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1A295D-47E3-FD21-6190-7F1C0A8789DC}"/>
              </a:ext>
            </a:extLst>
          </p:cNvPr>
          <p:cNvSpPr/>
          <p:nvPr/>
        </p:nvSpPr>
        <p:spPr>
          <a:xfrm>
            <a:off x="2750112" y="31376582"/>
            <a:ext cx="1292968" cy="601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Peak Detection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56CF51-6EDF-471F-4026-0C199788AC53}"/>
              </a:ext>
            </a:extLst>
          </p:cNvPr>
          <p:cNvSpPr/>
          <p:nvPr/>
        </p:nvSpPr>
        <p:spPr>
          <a:xfrm>
            <a:off x="4433637" y="31384749"/>
            <a:ext cx="1944639" cy="601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Perform FFT Transformation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1B741E-558F-585C-C5E3-1199C5B35E58}"/>
              </a:ext>
            </a:extLst>
          </p:cNvPr>
          <p:cNvSpPr/>
          <p:nvPr/>
        </p:nvSpPr>
        <p:spPr>
          <a:xfrm>
            <a:off x="7044954" y="31384749"/>
            <a:ext cx="1292968" cy="601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Loop Over 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BBF068-9ECB-348F-B6CE-27B4293000BE}"/>
              </a:ext>
            </a:extLst>
          </p:cNvPr>
          <p:cNvSpPr/>
          <p:nvPr/>
        </p:nvSpPr>
        <p:spPr>
          <a:xfrm>
            <a:off x="8848927" y="31401810"/>
            <a:ext cx="1574228" cy="585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ANOVA F for 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D56BA6-0C4E-C553-BA60-EDC949F07DBC}"/>
                  </a:ext>
                </a:extLst>
              </p:cNvPr>
              <p:cNvSpPr/>
              <p:nvPr/>
            </p:nvSpPr>
            <p:spPr>
              <a:xfrm>
                <a:off x="10998576" y="31409965"/>
                <a:ext cx="1292968" cy="5774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Loop over (C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D56BA6-0C4E-C553-BA60-EDC949F07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576" y="31409965"/>
                <a:ext cx="1292968" cy="577419"/>
              </a:xfrm>
              <a:prstGeom prst="rect">
                <a:avLst/>
              </a:prstGeom>
              <a:blipFill>
                <a:blip r:embed="rId14"/>
                <a:stretch>
                  <a:fillRect l="-1402" t="-15625" r="-5140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E528EE93-F62C-F5C2-AD55-10D4E6AD535E}"/>
              </a:ext>
            </a:extLst>
          </p:cNvPr>
          <p:cNvSpPr/>
          <p:nvPr/>
        </p:nvSpPr>
        <p:spPr>
          <a:xfrm>
            <a:off x="12866953" y="31393999"/>
            <a:ext cx="1292968" cy="577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/>
              <a:t>Run SVM</a:t>
            </a:r>
          </a:p>
          <a:p>
            <a:pPr algn="ctr"/>
            <a:r>
              <a:rPr lang="fr-FR" sz="2000" dirty="0"/>
              <a:t>+ 1st Eval</a:t>
            </a:r>
            <a:endParaRPr lang="en-US" sz="2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21D86B-4360-135C-C55A-25A882384E8B}"/>
              </a:ext>
            </a:extLst>
          </p:cNvPr>
          <p:cNvSpPr/>
          <p:nvPr/>
        </p:nvSpPr>
        <p:spPr>
          <a:xfrm>
            <a:off x="14768363" y="31206613"/>
            <a:ext cx="1292968" cy="941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/>
              <a:t>Evaluate Weighted Score</a:t>
            </a:r>
            <a:endParaRPr lang="en-US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CB3857B-C4EC-4E46-6364-1458817CBF16}"/>
              </a:ext>
            </a:extLst>
          </p:cNvPr>
          <p:cNvSpPr/>
          <p:nvPr/>
        </p:nvSpPr>
        <p:spPr>
          <a:xfrm>
            <a:off x="16457084" y="31394532"/>
            <a:ext cx="1292968" cy="577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/>
              <a:t>Save Best Params</a:t>
            </a:r>
            <a:endParaRPr lang="en-US" sz="20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A2A7683-EE44-8C41-26B8-E584C4851773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2303827" y="31677537"/>
            <a:ext cx="446280" cy="51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C3B5B7-04FE-9AC3-8510-4FF6040F0E4E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4043075" y="31677535"/>
            <a:ext cx="390566" cy="816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8A60BAB-536A-C64C-C597-40B1F0488766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6378283" y="31685699"/>
            <a:ext cx="6666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60B9500-6765-9A73-4F20-955354720517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8337914" y="31685699"/>
            <a:ext cx="511014" cy="88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EBE63A9-35E1-25F7-1F3E-EB7AD89F7101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10423158" y="31694596"/>
            <a:ext cx="575414" cy="408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0E38104-168B-7F2C-ED35-1C51A2CC898B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12291538" y="31682711"/>
            <a:ext cx="575414" cy="1596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B513A55-538B-C4C8-A9A8-0F30C83FE777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14159918" y="31677537"/>
            <a:ext cx="608440" cy="51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EE642F7-2FFE-AB9E-965C-39C557836BB7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16061322" y="31677537"/>
            <a:ext cx="395753" cy="570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2D2759FC-297D-20DE-B3FA-77145026CE2C}"/>
              </a:ext>
            </a:extLst>
          </p:cNvPr>
          <p:cNvCxnSpPr>
            <a:stCxn id="44" idx="2"/>
            <a:endCxn id="43" idx="2"/>
          </p:cNvCxnSpPr>
          <p:nvPr/>
        </p:nvCxnSpPr>
        <p:spPr>
          <a:xfrm rot="5400000">
            <a:off x="12571256" y="31045214"/>
            <a:ext cx="15965" cy="1868380"/>
          </a:xfrm>
          <a:prstGeom prst="bentConnector3">
            <a:avLst>
              <a:gd name="adj1" fmla="val 1531793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9EC81264-82D6-34EB-AE0A-2B5A8B992E2E}"/>
              </a:ext>
            </a:extLst>
          </p:cNvPr>
          <p:cNvCxnSpPr>
            <a:stCxn id="45" idx="2"/>
            <a:endCxn id="41" idx="2"/>
          </p:cNvCxnSpPr>
          <p:nvPr/>
        </p:nvCxnSpPr>
        <p:spPr>
          <a:xfrm rot="5400000" flipH="1">
            <a:off x="11472225" y="28205858"/>
            <a:ext cx="161810" cy="7723409"/>
          </a:xfrm>
          <a:prstGeom prst="bentConnector3">
            <a:avLst>
              <a:gd name="adj1" fmla="val -19923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0" name="Table 99">
                <a:extLst>
                  <a:ext uri="{FF2B5EF4-FFF2-40B4-BE49-F238E27FC236}">
                    <a16:creationId xmlns:a16="http://schemas.microsoft.com/office/drawing/2014/main" id="{173F64B0-D6DB-6CAB-C447-A50EFF49E9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68676"/>
                  </p:ext>
                </p:extLst>
              </p:nvPr>
            </p:nvGraphicFramePr>
            <p:xfrm>
              <a:off x="5536359" y="29310561"/>
              <a:ext cx="7088818" cy="14805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544409">
                      <a:extLst>
                        <a:ext uri="{9D8B030D-6E8A-4147-A177-3AD203B41FA5}">
                          <a16:colId xmlns:a16="http://schemas.microsoft.com/office/drawing/2014/main" val="1334028179"/>
                        </a:ext>
                      </a:extLst>
                    </a:gridCol>
                    <a:gridCol w="3544409">
                      <a:extLst>
                        <a:ext uri="{9D8B030D-6E8A-4147-A177-3AD203B41FA5}">
                          <a16:colId xmlns:a16="http://schemas.microsoft.com/office/drawing/2014/main" val="1376323602"/>
                        </a:ext>
                      </a:extLst>
                    </a:gridCol>
                  </a:tblGrid>
                  <a:tr h="370144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Parameters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Range Explored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2270331204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K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10 to 2000 out of 5000 features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4072393360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0.001 to 10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900051862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0.001 to 1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3712934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0" name="Table 99">
                <a:extLst>
                  <a:ext uri="{FF2B5EF4-FFF2-40B4-BE49-F238E27FC236}">
                    <a16:creationId xmlns:a16="http://schemas.microsoft.com/office/drawing/2014/main" id="{173F64B0-D6DB-6CAB-C447-A50EFF49E9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68676"/>
                  </p:ext>
                </p:extLst>
              </p:nvPr>
            </p:nvGraphicFramePr>
            <p:xfrm>
              <a:off x="5536359" y="29310561"/>
              <a:ext cx="7088818" cy="14805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544409">
                      <a:extLst>
                        <a:ext uri="{9D8B030D-6E8A-4147-A177-3AD203B41FA5}">
                          <a16:colId xmlns:a16="http://schemas.microsoft.com/office/drawing/2014/main" val="1334028179"/>
                        </a:ext>
                      </a:extLst>
                    </a:gridCol>
                    <a:gridCol w="3544409">
                      <a:extLst>
                        <a:ext uri="{9D8B030D-6E8A-4147-A177-3AD203B41FA5}">
                          <a16:colId xmlns:a16="http://schemas.microsoft.com/office/drawing/2014/main" val="1376323602"/>
                        </a:ext>
                      </a:extLst>
                    </a:gridCol>
                  </a:tblGrid>
                  <a:tr h="370144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Parameters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Range Explored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2270331204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K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10 to 2000 out of 5000 features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4072393360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0.001 to 10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900051862"/>
                      </a:ext>
                    </a:extLst>
                  </a:tr>
                  <a:tr h="37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41" marR="91441" marT="45719" marB="45719">
                        <a:blipFill>
                          <a:blip r:embed="rId15"/>
                          <a:stretch>
                            <a:fillRect l="-172" t="-308197" r="-10068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0.001 to 1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371293442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6672A30-3233-1D94-300E-9099864AF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728982"/>
              </p:ext>
            </p:extLst>
          </p:nvPr>
        </p:nvGraphicFramePr>
        <p:xfrm>
          <a:off x="18934094" y="6292087"/>
          <a:ext cx="12347926" cy="19290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3772">
                  <a:extLst>
                    <a:ext uri="{9D8B030D-6E8A-4147-A177-3AD203B41FA5}">
                      <a16:colId xmlns:a16="http://schemas.microsoft.com/office/drawing/2014/main" val="74465843"/>
                    </a:ext>
                  </a:extLst>
                </a:gridCol>
                <a:gridCol w="2951544">
                  <a:extLst>
                    <a:ext uri="{9D8B030D-6E8A-4147-A177-3AD203B41FA5}">
                      <a16:colId xmlns:a16="http://schemas.microsoft.com/office/drawing/2014/main" val="2959846392"/>
                    </a:ext>
                  </a:extLst>
                </a:gridCol>
                <a:gridCol w="1990846">
                  <a:extLst>
                    <a:ext uri="{9D8B030D-6E8A-4147-A177-3AD203B41FA5}">
                      <a16:colId xmlns:a16="http://schemas.microsoft.com/office/drawing/2014/main" val="1030844743"/>
                    </a:ext>
                  </a:extLst>
                </a:gridCol>
                <a:gridCol w="2546430">
                  <a:extLst>
                    <a:ext uri="{9D8B030D-6E8A-4147-A177-3AD203B41FA5}">
                      <a16:colId xmlns:a16="http://schemas.microsoft.com/office/drawing/2014/main" val="351742959"/>
                    </a:ext>
                  </a:extLst>
                </a:gridCol>
                <a:gridCol w="2105334">
                  <a:extLst>
                    <a:ext uri="{9D8B030D-6E8A-4147-A177-3AD203B41FA5}">
                      <a16:colId xmlns:a16="http://schemas.microsoft.com/office/drawing/2014/main" val="4271125037"/>
                    </a:ext>
                  </a:extLst>
                </a:gridCol>
              </a:tblGrid>
              <a:tr h="648849">
                <a:tc>
                  <a:txBody>
                    <a:bodyPr/>
                    <a:lstStyle/>
                    <a:p>
                      <a:r>
                        <a:rPr lang="en-US" sz="2200" dirty="0"/>
                        <a:t>Model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Scale(# params)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Training Time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Memory Footprint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Peak Accuracy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15541047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/>
                        <a:t>SVM (Gaussian Kernel)</a:t>
                      </a:r>
                      <a:endParaRPr lang="en-US" sz="22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hundreds</a:t>
                      </a:r>
                      <a:endParaRPr lang="en-US" sz="22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10sec</a:t>
                      </a:r>
                      <a:endParaRPr lang="en-US" sz="22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Low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90%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480376868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CNN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hundreds of thousands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1-2mins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High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90%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40328778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Bi-LSTM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Tens of thousands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30-3mins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High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97%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684487257"/>
                  </a:ext>
                </a:extLst>
              </a:tr>
            </a:tbl>
          </a:graphicData>
        </a:graphic>
      </p:graphicFrame>
      <p:sp>
        <p:nvSpPr>
          <p:cNvPr id="24" name="Arrow: Right 23">
            <a:extLst>
              <a:ext uri="{FF2B5EF4-FFF2-40B4-BE49-F238E27FC236}">
                <a16:creationId xmlns:a16="http://schemas.microsoft.com/office/drawing/2014/main" id="{F8C66BAA-F174-13C1-C9D3-AD5FD2F578E4}"/>
              </a:ext>
            </a:extLst>
          </p:cNvPr>
          <p:cNvSpPr/>
          <p:nvPr/>
        </p:nvSpPr>
        <p:spPr>
          <a:xfrm>
            <a:off x="31578885" y="7003743"/>
            <a:ext cx="1148863" cy="2974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6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D9C9F-A1A3-5909-9458-083D9DED93BF}"/>
              </a:ext>
            </a:extLst>
          </p:cNvPr>
          <p:cNvSpPr txBox="1"/>
          <p:nvPr/>
        </p:nvSpPr>
        <p:spPr>
          <a:xfrm>
            <a:off x="33145822" y="6750184"/>
            <a:ext cx="26899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SVM (RBF)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0EA5442-7A13-DBDD-8D89-36FD70D3A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16061"/>
              </p:ext>
            </p:extLst>
          </p:nvPr>
        </p:nvGraphicFramePr>
        <p:xfrm>
          <a:off x="18607614" y="8916716"/>
          <a:ext cx="8723035" cy="16460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6085">
                  <a:extLst>
                    <a:ext uri="{9D8B030D-6E8A-4147-A177-3AD203B41FA5}">
                      <a16:colId xmlns:a16="http://schemas.microsoft.com/office/drawing/2014/main" val="189396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90612647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46412812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502524467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074838318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319971366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175509621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1541323343"/>
                    </a:ext>
                  </a:extLst>
                </a:gridCol>
                <a:gridCol w="919430">
                  <a:extLst>
                    <a:ext uri="{9D8B030D-6E8A-4147-A177-3AD203B41FA5}">
                      <a16:colId xmlns:a16="http://schemas.microsoft.com/office/drawing/2014/main" val="2154629506"/>
                    </a:ext>
                  </a:extLst>
                </a:gridCol>
              </a:tblGrid>
              <a:tr h="494619">
                <a:tc>
                  <a:txBody>
                    <a:bodyPr/>
                    <a:lstStyle/>
                    <a:p>
                      <a:r>
                        <a:rPr lang="en-US" sz="1600" dirty="0"/>
                        <a:t>Method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 Range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Score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K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 Training Time (s)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Memory Space (KB)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 Gain (%)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Time Gain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Memory Saved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566147893"/>
                  </a:ext>
                </a:extLst>
              </a:tr>
              <a:tr h="321510">
                <a:tc>
                  <a:txBody>
                    <a:bodyPr/>
                    <a:lstStyle/>
                    <a:p>
                      <a:r>
                        <a:rPr lang="en-US" sz="1600" dirty="0"/>
                        <a:t>ANOVA F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10-5000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0.969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1.17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33×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9111027"/>
                  </a:ext>
                </a:extLst>
              </a:tr>
              <a:tr h="321510">
                <a:tc>
                  <a:txBody>
                    <a:bodyPr/>
                    <a:lstStyle/>
                    <a:p>
                      <a:r>
                        <a:rPr lang="en-US" sz="1600" dirty="0"/>
                        <a:t>PCA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5-200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0.715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0.08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500</a:t>
                      </a:r>
                      <a:r>
                        <a:rPr lang="en-US" sz="1600" dirty="0"/>
                        <a:t>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408791964"/>
                  </a:ext>
                </a:extLst>
              </a:tr>
              <a:tr h="396382">
                <a:tc>
                  <a:txBody>
                    <a:bodyPr/>
                    <a:lstStyle/>
                    <a:p>
                      <a:r>
                        <a:rPr lang="en-US" sz="1600" dirty="0"/>
                        <a:t>LDA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2500-3500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0.722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5.72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24.22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1.61×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830182661"/>
                  </a:ext>
                </a:extLst>
              </a:tr>
            </a:tbl>
          </a:graphicData>
        </a:graphic>
      </p:graphicFrame>
      <p:pic>
        <p:nvPicPr>
          <p:cNvPr id="47" name="Picture 46" descr="A diagram of a confused matrix&#10;&#10;AI-generated content may be incorrect.">
            <a:extLst>
              <a:ext uri="{FF2B5EF4-FFF2-40B4-BE49-F238E27FC236}">
                <a16:creationId xmlns:a16="http://schemas.microsoft.com/office/drawing/2014/main" id="{C8B07645-5109-1C72-3AD7-41D4B85068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180938" y="10952627"/>
            <a:ext cx="4810693" cy="4224442"/>
          </a:xfrm>
          <a:prstGeom prst="rect">
            <a:avLst/>
          </a:prstGeom>
        </p:spPr>
      </p:pic>
      <p:pic>
        <p:nvPicPr>
          <p:cNvPr id="52" name="Picture 51" descr="A diagram of a graph&#10;&#10;AI-generated content may be incorrect.">
            <a:extLst>
              <a:ext uri="{FF2B5EF4-FFF2-40B4-BE49-F238E27FC236}">
                <a16:creationId xmlns:a16="http://schemas.microsoft.com/office/drawing/2014/main" id="{72A9F2ED-C6CA-DB3C-4D11-F91B526C47B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6136" y="15621750"/>
            <a:ext cx="4493453" cy="3945866"/>
          </a:xfrm>
          <a:prstGeom prst="rect">
            <a:avLst/>
          </a:prstGeom>
        </p:spPr>
      </p:pic>
      <p:pic>
        <p:nvPicPr>
          <p:cNvPr id="56" name="Picture 55" descr="A diagram of a diagram&#10;&#10;AI-generated content may be incorrect.">
            <a:extLst>
              <a:ext uri="{FF2B5EF4-FFF2-40B4-BE49-F238E27FC236}">
                <a16:creationId xmlns:a16="http://schemas.microsoft.com/office/drawing/2014/main" id="{D41AE449-6172-BE63-BF88-EB3B08FE32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091795" y="15646540"/>
            <a:ext cx="4257420" cy="3738597"/>
          </a:xfrm>
          <a:prstGeom prst="rect">
            <a:avLst/>
          </a:prstGeom>
        </p:spPr>
      </p:pic>
      <p:pic>
        <p:nvPicPr>
          <p:cNvPr id="67" name="Picture 66" descr="A diagram of a graph&#10;&#10;AI-generated content may be incorrect.">
            <a:extLst>
              <a:ext uri="{FF2B5EF4-FFF2-40B4-BE49-F238E27FC236}">
                <a16:creationId xmlns:a16="http://schemas.microsoft.com/office/drawing/2014/main" id="{06891634-550D-86E6-8881-219D105B07A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398635" y="15735793"/>
            <a:ext cx="4257422" cy="3738598"/>
          </a:xfrm>
          <a:prstGeom prst="rect">
            <a:avLst/>
          </a:prstGeom>
        </p:spPr>
      </p:pic>
      <p:pic>
        <p:nvPicPr>
          <p:cNvPr id="70" name="Picture 69" descr="A diagram of a graph&#10;&#10;AI-generated content may be incorrect.">
            <a:extLst>
              <a:ext uri="{FF2B5EF4-FFF2-40B4-BE49-F238E27FC236}">
                <a16:creationId xmlns:a16="http://schemas.microsoft.com/office/drawing/2014/main" id="{2FA704E1-3E73-9628-7310-57FCDEB1434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677168" y="15737294"/>
            <a:ext cx="4257420" cy="3738597"/>
          </a:xfrm>
          <a:prstGeom prst="rect">
            <a:avLst/>
          </a:prstGeom>
        </p:spPr>
      </p:pic>
      <p:pic>
        <p:nvPicPr>
          <p:cNvPr id="73" name="Picture 72" descr="A graph with blue bars&#10;&#10;AI-generated content may be incorrect.">
            <a:extLst>
              <a:ext uri="{FF2B5EF4-FFF2-40B4-BE49-F238E27FC236}">
                <a16:creationId xmlns:a16="http://schemas.microsoft.com/office/drawing/2014/main" id="{809BD898-682F-3084-0A74-61D0E4EE9D3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589171" y="21949794"/>
            <a:ext cx="4501923" cy="2664403"/>
          </a:xfrm>
          <a:prstGeom prst="rect">
            <a:avLst/>
          </a:prstGeom>
        </p:spPr>
      </p:pic>
      <p:pic>
        <p:nvPicPr>
          <p:cNvPr id="75" name="Picture 7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7593F3A6-97B0-701B-A53A-59FCA740D1F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039589" y="21920490"/>
            <a:ext cx="4391400" cy="2598991"/>
          </a:xfrm>
          <a:prstGeom prst="rect">
            <a:avLst/>
          </a:prstGeom>
        </p:spPr>
      </p:pic>
      <p:pic>
        <p:nvPicPr>
          <p:cNvPr id="78" name="Picture 77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30CF5821-3EA7-C6BC-B196-7E382AFC7AD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377888" y="21916463"/>
            <a:ext cx="4391400" cy="2598991"/>
          </a:xfrm>
          <a:prstGeom prst="rect">
            <a:avLst/>
          </a:prstGeom>
        </p:spPr>
      </p:pic>
      <p:pic>
        <p:nvPicPr>
          <p:cNvPr id="80" name="Picture 79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AD6EF3DF-DBD0-855E-7229-861F6112591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700357" y="21949315"/>
            <a:ext cx="4389715" cy="2597994"/>
          </a:xfrm>
          <a:prstGeom prst="rect">
            <a:avLst/>
          </a:prstGeom>
        </p:spPr>
      </p:pic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1E1220FC-7185-219A-AA71-F5E49DD7A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86044"/>
              </p:ext>
            </p:extLst>
          </p:nvPr>
        </p:nvGraphicFramePr>
        <p:xfrm>
          <a:off x="27364058" y="8917938"/>
          <a:ext cx="8705392" cy="16460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6622">
                  <a:extLst>
                    <a:ext uri="{9D8B030D-6E8A-4147-A177-3AD203B41FA5}">
                      <a16:colId xmlns:a16="http://schemas.microsoft.com/office/drawing/2014/main" val="189396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16906126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64128127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1502524467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1074838318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19971366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75509621"/>
                    </a:ext>
                  </a:extLst>
                </a:gridCol>
                <a:gridCol w="795429">
                  <a:extLst>
                    <a:ext uri="{9D8B030D-6E8A-4147-A177-3AD203B41FA5}">
                      <a16:colId xmlns:a16="http://schemas.microsoft.com/office/drawing/2014/main" val="1541323343"/>
                    </a:ext>
                  </a:extLst>
                </a:gridCol>
                <a:gridCol w="984021">
                  <a:extLst>
                    <a:ext uri="{9D8B030D-6E8A-4147-A177-3AD203B41FA5}">
                      <a16:colId xmlns:a16="http://schemas.microsoft.com/office/drawing/2014/main" val="2154629506"/>
                    </a:ext>
                  </a:extLst>
                </a:gridCol>
              </a:tblGrid>
              <a:tr h="597861">
                <a:tc>
                  <a:txBody>
                    <a:bodyPr/>
                    <a:lstStyle/>
                    <a:p>
                      <a:r>
                        <a:rPr lang="en-US" sz="1600" dirty="0"/>
                        <a:t>Method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 Range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Score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K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 Training Time (s)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Memory Space (KB)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 Gain (%)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Time Gain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Memory Saved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566147893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US" sz="1600" dirty="0"/>
                        <a:t>ANOVA F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500-2500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1.92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7.81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2.6×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2.5×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49111027"/>
                  </a:ext>
                </a:extLst>
              </a:tr>
              <a:tr h="351033">
                <a:tc>
                  <a:txBody>
                    <a:bodyPr/>
                    <a:lstStyle/>
                    <a:p>
                      <a:r>
                        <a:rPr lang="en-US" sz="1600" dirty="0"/>
                        <a:t>PCA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10-100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0.883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0.18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0.18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22%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408791964"/>
                  </a:ext>
                </a:extLst>
              </a:tr>
              <a:tr h="351033">
                <a:tc>
                  <a:txBody>
                    <a:bodyPr/>
                    <a:lstStyle/>
                    <a:p>
                      <a:r>
                        <a:rPr lang="en-US" sz="1600" dirty="0"/>
                        <a:t>LDA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500-3500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0.752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500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3.91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8%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5.4×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21.5×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830182661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5E8DC3A3-E19F-6255-859A-BD1FBD3BF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160548"/>
              </p:ext>
            </p:extLst>
          </p:nvPr>
        </p:nvGraphicFramePr>
        <p:xfrm>
          <a:off x="18934094" y="20780392"/>
          <a:ext cx="17107315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21463">
                  <a:extLst>
                    <a:ext uri="{9D8B030D-6E8A-4147-A177-3AD203B41FA5}">
                      <a16:colId xmlns:a16="http://schemas.microsoft.com/office/drawing/2014/main" val="2429309763"/>
                    </a:ext>
                  </a:extLst>
                </a:gridCol>
                <a:gridCol w="3421463">
                  <a:extLst>
                    <a:ext uri="{9D8B030D-6E8A-4147-A177-3AD203B41FA5}">
                      <a16:colId xmlns:a16="http://schemas.microsoft.com/office/drawing/2014/main" val="1635048796"/>
                    </a:ext>
                  </a:extLst>
                </a:gridCol>
                <a:gridCol w="3421463">
                  <a:extLst>
                    <a:ext uri="{9D8B030D-6E8A-4147-A177-3AD203B41FA5}">
                      <a16:colId xmlns:a16="http://schemas.microsoft.com/office/drawing/2014/main" val="1483269982"/>
                    </a:ext>
                  </a:extLst>
                </a:gridCol>
                <a:gridCol w="3421463">
                  <a:extLst>
                    <a:ext uri="{9D8B030D-6E8A-4147-A177-3AD203B41FA5}">
                      <a16:colId xmlns:a16="http://schemas.microsoft.com/office/drawing/2014/main" val="3543196861"/>
                    </a:ext>
                  </a:extLst>
                </a:gridCol>
                <a:gridCol w="3421463">
                  <a:extLst>
                    <a:ext uri="{9D8B030D-6E8A-4147-A177-3AD203B41FA5}">
                      <a16:colId xmlns:a16="http://schemas.microsoft.com/office/drawing/2014/main" val="392759846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300" dirty="0"/>
                        <a:t>Flange #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Flange 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Flange 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Flange 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Flange 4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28085490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300" dirty="0"/>
                        <a:t>Classification Results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0 ft-</a:t>
                      </a:r>
                      <a:r>
                        <a:rPr lang="en-US" sz="2300" dirty="0" err="1"/>
                        <a:t>lbs</a:t>
                      </a:r>
                      <a:endParaRPr lang="en-US" sz="23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0 ft-</a:t>
                      </a:r>
                      <a:r>
                        <a:rPr lang="en-US" sz="2300" dirty="0" err="1"/>
                        <a:t>lbs</a:t>
                      </a:r>
                      <a:endParaRPr lang="en-US" sz="23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40 ft-</a:t>
                      </a:r>
                      <a:r>
                        <a:rPr lang="en-US" sz="2300" dirty="0" err="1"/>
                        <a:t>lbs</a:t>
                      </a:r>
                      <a:endParaRPr lang="en-US" sz="23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20 ft-</a:t>
                      </a:r>
                      <a:r>
                        <a:rPr lang="en-US" sz="2300" dirty="0" err="1"/>
                        <a:t>lbs</a:t>
                      </a:r>
                      <a:endParaRPr lang="en-US" sz="23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7675430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B57B0933-EB3A-117F-5B2E-68FF16B603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847872"/>
                  </p:ext>
                </p:extLst>
              </p:nvPr>
            </p:nvGraphicFramePr>
            <p:xfrm>
              <a:off x="18589171" y="12247536"/>
              <a:ext cx="6585996" cy="195071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98737">
                      <a:extLst>
                        <a:ext uri="{9D8B030D-6E8A-4147-A177-3AD203B41FA5}">
                          <a16:colId xmlns:a16="http://schemas.microsoft.com/office/drawing/2014/main" val="2141892670"/>
                        </a:ext>
                      </a:extLst>
                    </a:gridCol>
                    <a:gridCol w="1368554">
                      <a:extLst>
                        <a:ext uri="{9D8B030D-6E8A-4147-A177-3AD203B41FA5}">
                          <a16:colId xmlns:a16="http://schemas.microsoft.com/office/drawing/2014/main" val="2474484071"/>
                        </a:ext>
                      </a:extLst>
                    </a:gridCol>
                    <a:gridCol w="1170044">
                      <a:extLst>
                        <a:ext uri="{9D8B030D-6E8A-4147-A177-3AD203B41FA5}">
                          <a16:colId xmlns:a16="http://schemas.microsoft.com/office/drawing/2014/main" val="3878789160"/>
                        </a:ext>
                      </a:extLst>
                    </a:gridCol>
                    <a:gridCol w="832375">
                      <a:extLst>
                        <a:ext uri="{9D8B030D-6E8A-4147-A177-3AD203B41FA5}">
                          <a16:colId xmlns:a16="http://schemas.microsoft.com/office/drawing/2014/main" val="2617220045"/>
                        </a:ext>
                      </a:extLst>
                    </a:gridCol>
                    <a:gridCol w="1516286">
                      <a:extLst>
                        <a:ext uri="{9D8B030D-6E8A-4147-A177-3AD203B41FA5}">
                          <a16:colId xmlns:a16="http://schemas.microsoft.com/office/drawing/2014/main" val="4076408989"/>
                        </a:ext>
                      </a:extLst>
                    </a:gridCol>
                  </a:tblGrid>
                  <a:tr h="648849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Test Type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Best Params (C,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oMath>
                          </a14:m>
                          <a:r>
                            <a:rPr lang="en-US" sz="2200" dirty="0"/>
                            <a:t>)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Accuracy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F1 Score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weighted Score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1033622898"/>
                      </a:ext>
                    </a:extLst>
                  </a:tr>
                  <a:tr h="370841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Dependent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(10, 0.01)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323542596"/>
                      </a:ext>
                    </a:extLst>
                  </a:tr>
                  <a:tr h="370841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Independent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(1, 0.001)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1747104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B57B0933-EB3A-117F-5B2E-68FF16B603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847872"/>
                  </p:ext>
                </p:extLst>
              </p:nvPr>
            </p:nvGraphicFramePr>
            <p:xfrm>
              <a:off x="18589171" y="12247536"/>
              <a:ext cx="6585996" cy="195071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98737">
                      <a:extLst>
                        <a:ext uri="{9D8B030D-6E8A-4147-A177-3AD203B41FA5}">
                          <a16:colId xmlns:a16="http://schemas.microsoft.com/office/drawing/2014/main" val="2141892670"/>
                        </a:ext>
                      </a:extLst>
                    </a:gridCol>
                    <a:gridCol w="1368554">
                      <a:extLst>
                        <a:ext uri="{9D8B030D-6E8A-4147-A177-3AD203B41FA5}">
                          <a16:colId xmlns:a16="http://schemas.microsoft.com/office/drawing/2014/main" val="2474484071"/>
                        </a:ext>
                      </a:extLst>
                    </a:gridCol>
                    <a:gridCol w="1170044">
                      <a:extLst>
                        <a:ext uri="{9D8B030D-6E8A-4147-A177-3AD203B41FA5}">
                          <a16:colId xmlns:a16="http://schemas.microsoft.com/office/drawing/2014/main" val="3878789160"/>
                        </a:ext>
                      </a:extLst>
                    </a:gridCol>
                    <a:gridCol w="832375">
                      <a:extLst>
                        <a:ext uri="{9D8B030D-6E8A-4147-A177-3AD203B41FA5}">
                          <a16:colId xmlns:a16="http://schemas.microsoft.com/office/drawing/2014/main" val="2617220045"/>
                        </a:ext>
                      </a:extLst>
                    </a:gridCol>
                    <a:gridCol w="1516286">
                      <a:extLst>
                        <a:ext uri="{9D8B030D-6E8A-4147-A177-3AD203B41FA5}">
                          <a16:colId xmlns:a16="http://schemas.microsoft.com/office/drawing/2014/main" val="4076408989"/>
                        </a:ext>
                      </a:extLst>
                    </a:gridCol>
                  </a:tblGrid>
                  <a:tr h="109727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Test Type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41" marR="91441" marT="45719" marB="45719">
                        <a:blipFill>
                          <a:blip r:embed="rId26"/>
                          <a:stretch>
                            <a:fillRect l="-125000" t="-3867" r="-259821" b="-88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Accuracy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F1 Score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Avg weighted Score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1033622898"/>
                      </a:ext>
                    </a:extLst>
                  </a:tr>
                  <a:tr h="42671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Dependent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(10, 0.01)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0.997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323542596"/>
                      </a:ext>
                    </a:extLst>
                  </a:tr>
                  <a:tr h="42671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Independent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(1, 0.001)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0.969</a:t>
                          </a:r>
                        </a:p>
                      </a:txBody>
                      <a:tcPr marL="91441" marR="91441" marT="45719" marB="45719"/>
                    </a:tc>
                    <a:extLst>
                      <a:ext uri="{0D108BD9-81ED-4DB2-BD59-A6C34878D82A}">
                        <a16:rowId xmlns:a16="http://schemas.microsoft.com/office/drawing/2014/main" val="17471040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094A0011-4A9A-3BB8-87AB-5C637AF2D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20762"/>
              </p:ext>
            </p:extLst>
          </p:nvPr>
        </p:nvGraphicFramePr>
        <p:xfrm>
          <a:off x="25643932" y="12088754"/>
          <a:ext cx="5458390" cy="2468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3708">
                  <a:extLst>
                    <a:ext uri="{9D8B030D-6E8A-4147-A177-3AD203B41FA5}">
                      <a16:colId xmlns:a16="http://schemas.microsoft.com/office/drawing/2014/main" val="2141892670"/>
                    </a:ext>
                  </a:extLst>
                </a:gridCol>
                <a:gridCol w="1278416">
                  <a:extLst>
                    <a:ext uri="{9D8B030D-6E8A-4147-A177-3AD203B41FA5}">
                      <a16:colId xmlns:a16="http://schemas.microsoft.com/office/drawing/2014/main" val="2474484071"/>
                    </a:ext>
                  </a:extLst>
                </a:gridCol>
                <a:gridCol w="1238489">
                  <a:extLst>
                    <a:ext uri="{9D8B030D-6E8A-4147-A177-3AD203B41FA5}">
                      <a16:colId xmlns:a16="http://schemas.microsoft.com/office/drawing/2014/main" val="3878789160"/>
                    </a:ext>
                  </a:extLst>
                </a:gridCol>
                <a:gridCol w="1747777">
                  <a:extLst>
                    <a:ext uri="{9D8B030D-6E8A-4147-A177-3AD203B41FA5}">
                      <a16:colId xmlns:a16="http://schemas.microsoft.com/office/drawing/2014/main" val="2617220045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Flange #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Accuracy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F1 Score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Weighted Score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33622898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0.988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0.987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0.987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23542596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2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0.963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0.963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0.963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74710405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3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0.971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0.971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0.971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2598329676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US" sz="2200" dirty="0"/>
                        <a:t>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0.954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0.954</a:t>
                      </a:r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0.954</a:t>
                      </a:r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3048224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44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fa7672-0cb9-4340-bc0a-028c69d9c815" xsi:nil="true"/>
    <lcf76f155ced4ddcb4097134ff3c332f xmlns="4475dbe8-f711-4040-92c2-b06f27e87766">
      <Terms xmlns="http://schemas.microsoft.com/office/infopath/2007/PartnerControls"/>
    </lcf76f155ced4ddcb4097134ff3c332f>
    <Academic_x0020_Year xmlns="4475dbe8-f711-4040-92c2-b06f27e8776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2DBB676FD14E4992CDFD1726E5DC69" ma:contentTypeVersion="19" ma:contentTypeDescription="Create a new document." ma:contentTypeScope="" ma:versionID="61fc268ad2ced56506c4304d1f3b596a">
  <xsd:schema xmlns:xsd="http://www.w3.org/2001/XMLSchema" xmlns:xs="http://www.w3.org/2001/XMLSchema" xmlns:p="http://schemas.microsoft.com/office/2006/metadata/properties" xmlns:ns2="4475dbe8-f711-4040-92c2-b06f27e87766" xmlns:ns3="acfa7672-0cb9-4340-bc0a-028c69d9c815" targetNamespace="http://schemas.microsoft.com/office/2006/metadata/properties" ma:root="true" ma:fieldsID="3e05ceedd63f56408a4ec1d5ac7b975c" ns2:_="" ns3:_="">
    <xsd:import namespace="4475dbe8-f711-4040-92c2-b06f27e87766"/>
    <xsd:import namespace="acfa7672-0cb9-4340-bc0a-028c69d9c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Academic_x0020_Yea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5dbe8-f711-4040-92c2-b06f27e877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Academic_x0020_Year" ma:index="16" nillable="true" ma:displayName="Academic Year" ma:indexed="true" ma:internalName="Academic_x0020_Year">
      <xsd:simpleType>
        <xsd:restriction base="dms:Choice">
          <xsd:enumeration value="2016-2017"/>
          <xsd:enumeration value="2017-2018"/>
          <xsd:enumeration value="2018-2019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d3ec5fc-e53c-44b8-a5cd-ce895a24d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a7672-0cb9-4340-bc0a-028c69d9c81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d027dff-16c6-41db-ba79-4eb89c547428}" ma:internalName="TaxCatchAll" ma:showField="CatchAllData" ma:web="acfa7672-0cb9-4340-bc0a-028c69d9c8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C4F200-87BF-4126-AA4A-6A94BD69FE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9F96EA-0874-45E7-AC6F-8546E1DF4626}">
  <ds:schemaRefs>
    <ds:schemaRef ds:uri="http://schemas.microsoft.com/office/2006/metadata/properties"/>
    <ds:schemaRef ds:uri="http://schemas.microsoft.com/office/infopath/2007/PartnerControls"/>
    <ds:schemaRef ds:uri="2653192c-782d-40ad-a290-cf1608df6ffd"/>
    <ds:schemaRef ds:uri="acfa7672-0cb9-4340-bc0a-028c69d9c815"/>
    <ds:schemaRef ds:uri="4475dbe8-f711-4040-92c2-b06f27e87766"/>
  </ds:schemaRefs>
</ds:datastoreItem>
</file>

<file path=customXml/itemProps3.xml><?xml version="1.0" encoding="utf-8"?>
<ds:datastoreItem xmlns:ds="http://schemas.openxmlformats.org/officeDocument/2006/customXml" ds:itemID="{04BD1B00-7054-4E72-8C5D-E07A9E3C28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75dbe8-f711-4040-92c2-b06f27e87766"/>
    <ds:schemaRef ds:uri="acfa7672-0cb9-4340-bc0a-028c69d9c8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3163</TotalTime>
  <Words>1486</Words>
  <Application>Microsoft Office PowerPoint</Application>
  <PresentationFormat>Custom</PresentationFormat>
  <Paragraphs>315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Hayes, Martha S</dc:creator>
  <cp:lastModifiedBy>choayeb.barchouchi</cp:lastModifiedBy>
  <cp:revision>88</cp:revision>
  <dcterms:created xsi:type="dcterms:W3CDTF">2019-11-04T16:35:15Z</dcterms:created>
  <dcterms:modified xsi:type="dcterms:W3CDTF">2025-05-04T21:18:03Z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0x010100AD2DBB676FD14E4992CDFD1726E5DC69</vt:lpwstr>
  </property>
</Properties>
</file>